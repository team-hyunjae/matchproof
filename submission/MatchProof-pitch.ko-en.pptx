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63df185a1f440bf" /><Relationship Type="http://schemas.openxmlformats.org/officeDocument/2006/relationships/extended-properties" Target="/docProps/app.xml" Id="Ra585a050a6f64fab" /><Relationship Type="http://schemas.openxmlformats.org/officeDocument/2006/relationships/officeDocument" Target="/ppt/presentation.xml" Id="R2da4dd22823944db" /></Relationships>
</file>

<file path=ppt/presentation.xml><?xml version="1.0" encoding="utf-8"?>
<p:presentation xmlns:p="http://schemas.openxmlformats.org/presentationml/2006/main">
  <p:sldMasterIdLst>
    <p:sldMasterId xmlns:r="http://schemas.openxmlformats.org/officeDocument/2006/relationships" id="2147483648" r:id="R2e4e575835a64ac5"/>
  </p:sldMasterIdLst>
  <p:notesMasterIdLst>
    <p:notesMasterId xmlns:r="http://schemas.openxmlformats.org/officeDocument/2006/relationships" r:id="R0d4fd8a083db48d0"/>
  </p:notesMasterIdLst>
  <p:sldIdLst>
    <p:sldId xmlns:r="http://schemas.openxmlformats.org/officeDocument/2006/relationships" id="256" r:id="Re1e2d3d5ac6d43bf"/>
    <p:sldId xmlns:r="http://schemas.openxmlformats.org/officeDocument/2006/relationships" id="257" r:id="R90b7ebd343974418"/>
    <p:sldId xmlns:r="http://schemas.openxmlformats.org/officeDocument/2006/relationships" id="258" r:id="R14b9acbb453740a4"/>
    <p:sldId xmlns:r="http://schemas.openxmlformats.org/officeDocument/2006/relationships" id="259" r:id="R703b05514f804bc0"/>
    <p:sldId xmlns:r="http://schemas.openxmlformats.org/officeDocument/2006/relationships" id="260" r:id="R24ec7351579c4fe2"/>
    <p:sldId xmlns:r="http://schemas.openxmlformats.org/officeDocument/2006/relationships" id="261" r:id="R3453251b8427428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23c500fa8294940" /><Relationship Type="http://schemas.openxmlformats.org/officeDocument/2006/relationships/slideMaster" Target="/ppt/slideMasters/slideMaster1.xml" Id="R2e4e575835a64ac5" /><Relationship Type="http://schemas.openxmlformats.org/officeDocument/2006/relationships/notesMaster" Target="/ppt/notesMasters/notesMaster1.xml" Id="R0d4fd8a083db48d0" /><Relationship Type="http://schemas.openxmlformats.org/officeDocument/2006/relationships/presProps" Target="/ppt/presProps.xml" Id="R1f26c6cc673746f1" /><Relationship Type="http://schemas.openxmlformats.org/officeDocument/2006/relationships/tableStyles" Target="/ppt/tableStyles.xml" Id="Re1266ec4b9c2489e" /><Relationship Type="http://schemas.openxmlformats.org/officeDocument/2006/relationships/slide" Target="/ppt/slides/slide1.xml" Id="Re1e2d3d5ac6d43bf" /><Relationship Type="http://schemas.openxmlformats.org/officeDocument/2006/relationships/slide" Target="/ppt/slides/slide2.xml" Id="R90b7ebd343974418" /><Relationship Type="http://schemas.openxmlformats.org/officeDocument/2006/relationships/slide" Target="/ppt/slides/slide3.xml" Id="R14b9acbb453740a4" /><Relationship Type="http://schemas.openxmlformats.org/officeDocument/2006/relationships/slide" Target="/ppt/slides/slide4.xml" Id="R703b05514f804bc0" /><Relationship Type="http://schemas.openxmlformats.org/officeDocument/2006/relationships/slide" Target="/ppt/slides/slide5.xml" Id="R24ec7351579c4fe2" /><Relationship Type="http://schemas.openxmlformats.org/officeDocument/2006/relationships/slide" Target="/ppt/slides/slide6.xml" Id="R3453251b8427428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6f48acdf08a452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d2174775913438a" /><Relationship Type="http://schemas.openxmlformats.org/officeDocument/2006/relationships/notesMaster" Target="/ppt/notesMasters/notesMaster1.xml" Id="Re90793e25e194e40" /></Relationships>
</file>

<file path=ppt/notesSlides/_rels/notesSlide2.xml.rels>&#65279;<?xml version="1.0" encoding="utf-8"?><Relationships xmlns="http://schemas.openxmlformats.org/package/2006/relationships"><Relationship Type="http://schemas.openxmlformats.org/officeDocument/2006/relationships/slide" Target="/ppt/slides/slide2.xml" Id="R773e7159bd0f4f81" /><Relationship Type="http://schemas.openxmlformats.org/officeDocument/2006/relationships/notesMaster" Target="/ppt/notesMasters/notesMaster1.xml" Id="R1eb6500a8ba644a2" /></Relationships>
</file>

<file path=ppt/notesSlides/_rels/notesSlide3.xml.rels>&#65279;<?xml version="1.0" encoding="utf-8"?><Relationships xmlns="http://schemas.openxmlformats.org/package/2006/relationships"><Relationship Type="http://schemas.openxmlformats.org/officeDocument/2006/relationships/slide" Target="/ppt/slides/slide3.xml" Id="R6a9d1225a8a047c0" /><Relationship Type="http://schemas.openxmlformats.org/officeDocument/2006/relationships/notesMaster" Target="/ppt/notesMasters/notesMaster1.xml" Id="R743b8ac7fa724311" /></Relationships>
</file>

<file path=ppt/notesSlides/_rels/notesSlide4.xml.rels>&#65279;<?xml version="1.0" encoding="utf-8"?><Relationships xmlns="http://schemas.openxmlformats.org/package/2006/relationships"><Relationship Type="http://schemas.openxmlformats.org/officeDocument/2006/relationships/slide" Target="/ppt/slides/slide4.xml" Id="R35db9b41eaf64c81" /><Relationship Type="http://schemas.openxmlformats.org/officeDocument/2006/relationships/notesMaster" Target="/ppt/notesMasters/notesMaster1.xml" Id="R5e1e23b20dab4dac" /></Relationships>
</file>

<file path=ppt/notesSlides/_rels/notesSlide5.xml.rels>&#65279;<?xml version="1.0" encoding="utf-8"?><Relationships xmlns="http://schemas.openxmlformats.org/package/2006/relationships"><Relationship Type="http://schemas.openxmlformats.org/officeDocument/2006/relationships/slide" Target="/ppt/slides/slide5.xml" Id="Ra03f4228a4754600" /><Relationship Type="http://schemas.openxmlformats.org/officeDocument/2006/relationships/notesMaster" Target="/ppt/notesMasters/notesMaster1.xml" Id="R0a0dd80e27d94871" /></Relationships>
</file>

<file path=ppt/notesSlides/_rels/notesSlide6.xml.rels>&#65279;<?xml version="1.0" encoding="utf-8"?><Relationships xmlns="http://schemas.openxmlformats.org/package/2006/relationships"><Relationship Type="http://schemas.openxmlformats.org/officeDocument/2006/relationships/slide" Target="/ppt/slides/slide6.xml" Id="R9500739e251a4b56" /><Relationship Type="http://schemas.openxmlformats.org/officeDocument/2006/relationships/notesMaster" Target="/ppt/notesMasters/notesMaster1.xml" Id="R9445c4f4dab84ab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업체가 보관할 상세 개인정보를 줄이면서 가입 조건을 확인하는 앱입니다. 가상 자료와 Local Devnet으로 시연합니다.</a:t>
            </a:r>
          </a:p>
          <a:p xmlns:a="http://schemas.openxmlformats.org/drawingml/2006/main">
            <a:r>
              <a:t/>
            </a:r>
          </a:p>
          <a:p xmlns:a="http://schemas.openxmlformats.org/drawingml/2006/main">
            <a:r>
              <a:t>MatchProof demonstrates agency eligibility checks with less detailed data held by the agency. This prototype uses synthetic evidence on Local Devnet.</a:t>
            </a:r>
          </a:p>
          <a:p xmlns:a="http://schemas.openxmlformats.org/drawingml/2006/main">
            <a:r>
              <a:t/>
            </a:r>
          </a:p>
          <a:p xmlns:a="http://schemas.openxmlformats.org/drawingml/2006/main">
            <a:r>
              <a:t>Sources:</a:t>
            </a:r>
          </a:p>
          <a:p xmlns:a="http://schemas.openxmlformats.org/drawingml/2006/main">
            <a:r>
              <a:t>https://github.com/team-hyunjae/MatchProof/blob/main/README.md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예시 신청자의 소득은 6,500만 원이지만 업체가 확인하는 것은 5,000만 원 이상인지입니다. 혼인 상태는 확인일의 상태이며 과거 혼인 이력이 없다는 뜻이 아닙니다.</a:t>
            </a:r>
          </a:p>
          <a:p xmlns:a="http://schemas.openxmlformats.org/drawingml/2006/main">
            <a:r>
              <a:t/>
            </a:r>
          </a:p>
          <a:p xmlns:a="http://schemas.openxmlformats.org/drawingml/2006/main">
            <a:r>
              <a:t>The example applicant earns KRW 65 million. The policy checks a KRW 50 million threshold. Marital status refers to the evidence check date, not lifetime history.</a:t>
            </a:r>
          </a:p>
          <a:p xmlns:a="http://schemas.openxmlformats.org/drawingml/2006/main">
            <a:r>
              <a:t/>
            </a:r>
          </a:p>
          <a:p xmlns:a="http://schemas.openxmlformats.org/drawingml/2006/main">
            <a:r>
              <a:t>Sources:</a:t>
            </a:r>
          </a:p>
          <a:p xmlns:a="http://schemas.openxmlformats.org/drawingml/2006/main">
            <a:r>
              <a:t>https://github.com/team-hyunjae/MatchProof/blob/main/contracts/matchproof.compact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자격과 요청을 모두 가져와야 합니다. 동의는 UI의 확인 절차이며 버튼 활성화만으로 증명 성공을 뜻하지 않습니다. 제공된 캡처는 자격이 준비되기 전 버튼이 비활성인 동의 화면으로, 확정 거래 증거가 아닙니다. 실제 시연은 신청자의 확정 메시지와 업체의 공개 조회 결과로 이어집니다.</a:t>
            </a:r>
          </a:p>
          <a:p xmlns:a="http://schemas.openxmlformats.org/drawingml/2006/main">
            <a:r>
              <a:t/>
            </a:r>
          </a:p>
          <a:p xmlns:a="http://schemas.openxmlformats.org/drawingml/2006/main">
            <a:r>
              <a:t>The applicant needs both the credential and request. UI consent alone does not establish a successful proof. This user-provided screenshot illustrates disclosure before the credential was ready, so its button is disabled. Use the live confirmation and public agency read to establish success.</a:t>
            </a:r>
          </a:p>
          <a:p xmlns:a="http://schemas.openxmlformats.org/drawingml/2006/main">
            <a:r>
              <a:t/>
            </a:r>
          </a:p>
          <a:p xmlns:a="http://schemas.openxmlformats.org/drawingml/2006/main">
            <a:r>
              <a:t>Sources:</a:t>
            </a:r>
          </a:p>
          <a:p xmlns:a="http://schemas.openxmlformats.org/drawingml/2006/main">
            <a:r>
              <a:t>User-provided MatchProof screenshot, 2026-09-26</a:t>
            </a:r>
          </a:p>
          <a:p xmlns:a="http://schemas.openxmlformats.org/drawingml/2006/main">
            <a:r>
              <a:t>https://github.com/team-hyunjae/MatchProof/blob/main/docs/matchproof-judge-guide.en.md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업체는 원본과 정확한 소득 없이 결과를 확인합니다. 다만 정책과 요청, 승인 기록은 공개이며 사람과 연결될 가능성이 있습니다. Loopback 주소도 SSH 전달이면 다른 기기의 증명 서버로 연결될 수 있습니다.</a:t>
            </a:r>
          </a:p>
          <a:p xmlns:a="http://schemas.openxmlformats.org/drawingml/2006/main">
            <a:r>
              <a:t/>
            </a:r>
          </a:p>
          <a:p xmlns:a="http://schemas.openxmlformats.org/drawingml/2006/main">
            <a:r>
              <a:t>The agency reads the result without raw documents or exact income. Public requests and approvals can reveal eligibility if linked to a person. Loopback endpoints can forward private proof inputs to another machine.</a:t>
            </a:r>
          </a:p>
          <a:p xmlns:a="http://schemas.openxmlformats.org/drawingml/2006/main">
            <a:r>
              <a:t/>
            </a:r>
          </a:p>
          <a:p xmlns:a="http://schemas.openxmlformats.org/drawingml/2006/main">
            <a:r>
              <a:t>Sources:</a:t>
            </a:r>
          </a:p>
          <a:p xmlns:a="http://schemas.openxmlformats.org/drawingml/2006/main">
            <a:r>
              <a:t>https://github.com/team-hyunjae/MatchProof/blob/main/contracts/matchproof.compact</a:t>
            </a:r>
          </a:p>
          <a:p xmlns:a="http://schemas.openxmlformats.org/drawingml/2006/main">
            <a:r>
              <a:t>https://github.com/team-hyunjae/MatchProof/blob/main/docs/matchproof-runbook.md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10분 만료는 요청의 사용을 제한합니다. 체인 기록은 유지되며 현재 계약에는 삭제나 즉시 철회가 없습니다. 실제 서비스의 보유·파기 의무를 이 기능만으로 충족했다고 주장하지 않습니다.</a:t>
            </a:r>
          </a:p>
          <a:p xmlns:a="http://schemas.openxmlformats.org/drawingml/2006/main">
            <a:r>
              <a:t/>
            </a:r>
          </a:p>
          <a:p xmlns:a="http://schemas.openxmlformats.org/drawingml/2006/main">
            <a:r>
              <a:t>Expiry limits use of the request. It does not erase the ledger. The current contract has neither deletion nor immediate revocation, and the prototype does not establish legal compliance.</a:t>
            </a:r>
          </a:p>
          <a:p xmlns:a="http://schemas.openxmlformats.org/drawingml/2006/main">
            <a:r>
              <a:t/>
            </a:r>
          </a:p>
          <a:p xmlns:a="http://schemas.openxmlformats.org/drawingml/2006/main">
            <a:r>
              <a:t>Sources:</a:t>
            </a:r>
          </a:p>
          <a:p xmlns:a="http://schemas.openxmlformats.org/drawingml/2006/main">
            <a:r>
              <a:t>https://github.com/team-hyunjae/MatchProof/blob/main/contracts/matchproof.compact</a:t>
            </a:r>
          </a:p>
          <a:p xmlns:a="http://schemas.openxmlformats.org/drawingml/2006/main">
            <a:r>
              <a:t>https://github.com/team-hyunjae/MatchProof/blob/main/src/matchproof/MatchProofApp.tsx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공개 clone 검증 당시 커밋은 2d03b21입니다. 9월 26일 CLI는 새 계약 배포, 발급, 요청, 증명 확정과 별도 공개 조회를 확인했습니다. 소득 미달과 재사용은 제출 전 회로 실행에서 거절됐습니다. 다른 물리 기기 재현이나 실제 확장 지갑 승인창을 검증했다고 주장하지 않습니다.</a:t>
            </a:r>
          </a:p>
          <a:p xmlns:a="http://schemas.openxmlformats.org/drawingml/2006/main">
            <a:r>
              <a:t/>
            </a:r>
          </a:p>
          <a:p xmlns:a="http://schemas.openxmlformats.org/drawingml/2006/main">
            <a:r>
              <a:t>The public-clone evidence identifies tested commit 2d03b21. The September 26 CLI run confirmed deployment, issuance, request, proof and an independent public read. Insufficient income and replay failed before submission. This is historical evidence, not a live availability guarantee or independent physical-device verification.</a:t>
            </a:r>
          </a:p>
          <a:p xmlns:a="http://schemas.openxmlformats.org/drawingml/2006/main">
            <a:r>
              <a:t/>
            </a:r>
          </a:p>
          <a:p xmlns:a="http://schemas.openxmlformats.org/drawingml/2006/main">
            <a:r>
              <a:t>Sources:</a:t>
            </a:r>
          </a:p>
          <a:p xmlns:a="http://schemas.openxmlformats.org/drawingml/2006/main">
            <a:r>
              <a:t>https://github.com/team-hyunjae/MatchProof/blob/main/submission/evidence/2026-09-26-public-clone.json</a:t>
            </a:r>
          </a:p>
          <a:p xmlns:a="http://schemas.openxmlformats.org/drawingml/2006/main">
            <a:r>
              <a:t>https://github.com/team-hyunjae/MatchProof/blob/main/submission/evidence/2026-09-26-matchproof-smoke.json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6a2c5d742d2469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35c78e44a6d4256" /><Relationship Type="http://schemas.openxmlformats.org/officeDocument/2006/relationships/slideLayout" Target="/ppt/slideLayouts/slideLayout1.xml" Id="Rd77cc7c771a4471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77cc7c771a4471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fa237ce7cc284d84" /><Relationship Type="http://schemas.openxmlformats.org/officeDocument/2006/relationships/notesSlide" Target="/ppt/notesSlides/notesSlide1.xml" Id="R41d4dea70ed84e18"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20be074c4220441c" /><Relationship Type="http://schemas.openxmlformats.org/officeDocument/2006/relationships/notesSlide" Target="/ppt/notesSlides/notesSlide2.xml" Id="R0c903c4c5e084419"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7af6fc9457bd4752" /><Relationship Type="http://schemas.openxmlformats.org/officeDocument/2006/relationships/image" Target="/ppt/media/image.png" Id="R26b04eac624b4eee" /><Relationship Type="http://schemas.openxmlformats.org/officeDocument/2006/relationships/notesSlide" Target="/ppt/notesSlides/notesSlide3.xml" Id="Rd4646e097acc418a"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0572da15923f41e5" /><Relationship Type="http://schemas.openxmlformats.org/officeDocument/2006/relationships/notesSlide" Target="/ppt/notesSlides/notesSlide4.xml" Id="R7ae3fc8d063d4cd7"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c5259bcce5e54b1a" /><Relationship Type="http://schemas.openxmlformats.org/officeDocument/2006/relationships/notesSlide" Target="/ppt/notesSlides/notesSlide5.xml" Id="R1afcf615855745c7"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8d02c42946b44771" /><Relationship Type="http://schemas.openxmlformats.org/officeDocument/2006/relationships/notesSlide" Target="/ppt/notesSlides/notesSlide6.xml" Id="Re1ab38dea69b4473" /></Relationships>
</file>

<file path=ppt/slides/slide1.xml><?xml version="1.0" encoding="utf-8"?>
<p:sld xmlns:p="http://schemas.openxmlformats.org/presentationml/2006/main">
  <p:cSld>
    <p:bg>
      <p:bgPr>
        <a:solidFill xmlns:a="http://schemas.openxmlformats.org/drawingml/2006/main">
          <a:srgbClr val="213C33"/>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A70B7B4-3A09-4162-90C4-DDEF147A1559}"/>
              </a:ext>
            </a:extLst>
          </p:cNvPr>
          <p:cNvSpPr>
            <a:spLocks xmlns:a="http://schemas.openxmlformats.org/drawingml/2006/main" noGrp="1"/>
          </p:cNvSpPr>
          <p:nvPr/>
        </p:nvSpPr>
        <p:spPr>
          <a:xfrm xmlns:a="http://schemas.openxmlformats.org/drawingml/2006/main">
            <a:off x="685800" y="1181100"/>
            <a:ext cx="1066800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6900" b="1">
                <a:solidFill>
                  <a:srgbClr val="FFFFFF"/>
                </a:solidFill>
                <a:latin typeface="Apple SD Gothic Neo"/>
                <a:ea typeface="Apple SD Gothic Neo"/>
                <a:cs typeface="Apple SD Gothic Neo"/>
              </a:defRPr>
            </a:pPr>
            <a:r>
              <a:rPr sz="6900" b="1">
                <a:solidFill>
                  <a:srgbClr val="FFFFFF"/>
                </a:solidFill>
                <a:latin typeface="Apple SD Gothic Neo"/>
                <a:ea typeface="Apple SD Gothic Neo"/>
                <a:cs typeface="Apple SD Gothic Neo"/>
              </a:rPr>
              <a:t>MatchProof</a:t>
            </a:r>
          </a:p>
        </p:txBody>
      </p:sp>
      <p:sp>
        <p:nvSpPr>
          <p:cNvPr id="2" name="">
            <a:extLst xmlns:a="http://schemas.openxmlformats.org/drawingml/2006/main">
              <a:ext uri="{FF2B5EF4-FFF2-40B4-BE49-F238E27FC236}">
                <a16:creationId xmlns:a16="http://schemas.microsoft.com/office/drawing/2014/main" id="{0B84ACCC-95DC-4674-998A-EADD09BDE1FC}"/>
              </a:ext>
            </a:extLst>
          </p:cNvPr>
          <p:cNvSpPr>
            <a:spLocks xmlns:a="http://schemas.openxmlformats.org/drawingml/2006/main" noGrp="1"/>
          </p:cNvSpPr>
          <p:nvPr/>
        </p:nvSpPr>
        <p:spPr>
          <a:xfrm xmlns:a="http://schemas.openxmlformats.org/drawingml/2006/main">
            <a:off x="723900" y="2667000"/>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700" b="0">
                <a:solidFill>
                  <a:srgbClr val="FFFFFF"/>
                </a:solidFill>
                <a:latin typeface="Apple SD Gothic Neo"/>
                <a:ea typeface="Apple SD Gothic Neo"/>
                <a:cs typeface="Apple SD Gothic Neo"/>
              </a:defRPr>
            </a:pPr>
            <a:r>
              <a:rPr sz="2700" b="0">
                <a:solidFill>
                  <a:srgbClr val="FFFFFF"/>
                </a:solidFill>
                <a:latin typeface="Apple SD Gothic Neo"/>
                <a:ea typeface="Apple SD Gothic Neo"/>
                <a:cs typeface="Apple SD Gothic Neo"/>
              </a:rPr>
              <a:t>결혼정보업체를 위한 비공개 가입 조건 검증</a:t>
            </a:r>
          </a:p>
        </p:txBody>
      </p:sp>
      <p:sp>
        <p:nvSpPr>
          <p:cNvPr id="3" name="">
            <a:extLst xmlns:a="http://schemas.openxmlformats.org/drawingml/2006/main">
              <a:ext uri="{FF2B5EF4-FFF2-40B4-BE49-F238E27FC236}">
                <a16:creationId xmlns:a16="http://schemas.microsoft.com/office/drawing/2014/main" id="{54C4B125-96AD-445C-9E5A-4A9CE0096E42}"/>
              </a:ext>
            </a:extLst>
          </p:cNvPr>
          <p:cNvSpPr>
            <a:spLocks xmlns:a="http://schemas.openxmlformats.org/drawingml/2006/main" noGrp="1"/>
          </p:cNvSpPr>
          <p:nvPr/>
        </p:nvSpPr>
        <p:spPr>
          <a:xfrm xmlns:a="http://schemas.openxmlformats.org/drawingml/2006/main">
            <a:off x="723900" y="3390900"/>
            <a:ext cx="1038225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700" b="0">
                <a:solidFill>
                  <a:srgbClr val="D8E5D5"/>
                </a:solidFill>
                <a:latin typeface="Apple SD Gothic Neo"/>
                <a:ea typeface="Apple SD Gothic Neo"/>
                <a:cs typeface="Apple SD Gothic Neo"/>
              </a:defRPr>
            </a:pPr>
            <a:r>
              <a:rPr sz="2700" b="0">
                <a:solidFill>
                  <a:srgbClr val="D8E5D5"/>
                </a:solidFill>
                <a:latin typeface="Apple SD Gothic Neo"/>
                <a:ea typeface="Apple SD Gothic Neo"/>
                <a:cs typeface="Apple SD Gothic Neo"/>
              </a:rPr>
              <a:t>Private eligibility checks</a:t>
            </a:r>
          </a:p>
          <a:p xmlns:a="http://schemas.openxmlformats.org/drawingml/2006/main">
            <a:pPr algn="l">
              <a:defRPr sz="2700" b="0">
                <a:solidFill>
                  <a:srgbClr val="D8E5D5"/>
                </a:solidFill>
                <a:latin typeface="Apple SD Gothic Neo"/>
                <a:ea typeface="Apple SD Gothic Neo"/>
                <a:cs typeface="Apple SD Gothic Neo"/>
              </a:defRPr>
            </a:pPr>
            <a:r>
              <a:rPr sz="2700" b="0">
                <a:solidFill>
                  <a:srgbClr val="D8E5D5"/>
                </a:solidFill>
                <a:latin typeface="Apple SD Gothic Neo"/>
                <a:ea typeface="Apple SD Gothic Neo"/>
                <a:cs typeface="Apple SD Gothic Neo"/>
              </a:rPr>
              <a:t>for marriage matchmaking agencies</a:t>
            </a:r>
          </a:p>
        </p:txBody>
      </p:sp>
      <p:sp>
        <p:nvSpPr>
          <p:cNvPr id="4" name="">
            <a:extLst xmlns:a="http://schemas.openxmlformats.org/drawingml/2006/main">
              <a:ext uri="{FF2B5EF4-FFF2-40B4-BE49-F238E27FC236}">
                <a16:creationId xmlns:a16="http://schemas.microsoft.com/office/drawing/2014/main" id="{AC84D321-04D0-44F1-8EE3-EFF10930977F}"/>
              </a:ext>
            </a:extLst>
          </p:cNvPr>
          <p:cNvSpPr>
            <a:spLocks xmlns:a="http://schemas.openxmlformats.org/drawingml/2006/main" noGrp="1"/>
          </p:cNvSpPr>
          <p:nvPr/>
        </p:nvSpPr>
        <p:spPr>
          <a:xfrm xmlns:a="http://schemas.openxmlformats.org/drawingml/2006/main">
            <a:off x="723900" y="5238750"/>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FFFFFF"/>
                </a:solidFill>
                <a:latin typeface="Apple SD Gothic Neo"/>
                <a:ea typeface="Apple SD Gothic Neo"/>
                <a:cs typeface="Apple SD Gothic Neo"/>
              </a:defRPr>
            </a:pPr>
            <a:r>
              <a:rPr sz="1875" b="0">
                <a:solidFill>
                  <a:srgbClr val="FFFFFF"/>
                </a:solidFill>
                <a:latin typeface="Apple SD Gothic Neo"/>
                <a:ea typeface="Apple SD Gothic Neo"/>
                <a:cs typeface="Apple SD Gothic Neo"/>
              </a:rPr>
              <a:t>팀 현재  ·  pegeaether  ·  mjlee5929</a:t>
            </a:r>
          </a:p>
        </p:txBody>
      </p:sp>
      <p:sp>
        <p:nvSpPr>
          <p:cNvPr id="5" name="">
            <a:extLst xmlns:a="http://schemas.openxmlformats.org/drawingml/2006/main">
              <a:ext uri="{FF2B5EF4-FFF2-40B4-BE49-F238E27FC236}">
                <a16:creationId xmlns:a16="http://schemas.microsoft.com/office/drawing/2014/main" id="{9751FA5D-82EC-4B92-AE0D-AF609019171F}"/>
              </a:ext>
            </a:extLst>
          </p:cNvPr>
          <p:cNvSpPr>
            <a:spLocks xmlns:a="http://schemas.openxmlformats.org/drawingml/2006/main" noGrp="1"/>
          </p:cNvSpPr>
          <p:nvPr/>
        </p:nvSpPr>
        <p:spPr>
          <a:xfrm xmlns:a="http://schemas.openxmlformats.org/drawingml/2006/main">
            <a:off x="723900" y="5781675"/>
            <a:ext cx="10572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C5D6C7"/>
                </a:solidFill>
                <a:latin typeface="Apple SD Gothic Neo"/>
                <a:ea typeface="Apple SD Gothic Neo"/>
                <a:cs typeface="Apple SD Gothic Neo"/>
              </a:defRPr>
            </a:pPr>
            <a:r>
              <a:rPr sz="1875" b="0">
                <a:solidFill>
                  <a:srgbClr val="C5D6C7"/>
                </a:solidFill>
                <a:latin typeface="Apple SD Gothic Neo"/>
                <a:ea typeface="Apple SD Gothic Neo"/>
                <a:cs typeface="Apple SD Gothic Neo"/>
              </a:rPr>
              <a:t>Midnight Local Devnet   /   Synthetic data</a:t>
            </a:r>
          </a:p>
        </p:txBody>
      </p:sp>
    </p:spTree>
    <p:extLst>
      <p:ext uri="{BB962C8B-B14F-4D97-AF65-F5344CB8AC3E}">
        <p14:creationId xmlns:p14="http://schemas.microsoft.com/office/powerpoint/2010/main" val="832330293"/>
      </p:ext>
    </p:extLst>
  </p:cSld>
</p:sld>
</file>

<file path=ppt/slides/slide2.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DD9C76C9-A770-4B6F-9ACE-778CD0CA1D80}"/>
              </a:ext>
            </a:extLst>
          </p:cNvPr>
          <p:cNvSpPr>
            <a:spLocks xmlns:a="http://schemas.openxmlformats.org/drawingml/2006/main" noGrp="1"/>
          </p:cNvSpPr>
          <p:nvPr/>
        </p:nvSpPr>
        <p:spPr>
          <a:xfrm xmlns:a="http://schemas.openxmlformats.org/drawingml/2006/main">
            <a:off x="685800" y="476250"/>
            <a:ext cx="10820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300" b="1">
                <a:solidFill>
                  <a:srgbClr val="213C33"/>
                </a:solidFill>
                <a:latin typeface="Apple SD Gothic Neo"/>
                <a:ea typeface="Apple SD Gothic Neo"/>
                <a:cs typeface="Apple SD Gothic Neo"/>
              </a:defRPr>
            </a:pPr>
            <a:r>
              <a:rPr sz="3300" b="1">
                <a:solidFill>
                  <a:srgbClr val="213C33"/>
                </a:solidFill>
                <a:latin typeface="Apple SD Gothic Neo"/>
                <a:ea typeface="Apple SD Gothic Neo"/>
                <a:cs typeface="Apple SD Gothic Neo"/>
              </a:rPr>
              <a:t>데모 심사 조건</a:t>
            </a:r>
          </a:p>
        </p:txBody>
      </p:sp>
      <p:sp>
        <p:nvSpPr>
          <p:cNvPr id="2" name="">
            <a:extLst xmlns:a="http://schemas.openxmlformats.org/drawingml/2006/main">
              <a:ext uri="{FF2B5EF4-FFF2-40B4-BE49-F238E27FC236}">
                <a16:creationId xmlns:a16="http://schemas.microsoft.com/office/drawing/2014/main" id="{1E1A426D-AB19-4DA0-95AC-D61E0B533C61}"/>
              </a:ext>
            </a:extLst>
          </p:cNvPr>
          <p:cNvSpPr>
            <a:spLocks xmlns:a="http://schemas.openxmlformats.org/drawingml/2006/main" noGrp="1"/>
          </p:cNvSpPr>
          <p:nvPr/>
        </p:nvSpPr>
        <p:spPr>
          <a:xfrm xmlns:a="http://schemas.openxmlformats.org/drawingml/2006/main">
            <a:off x="685800" y="1143000"/>
            <a:ext cx="108204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325" b="0">
                <a:solidFill>
                  <a:srgbClr val="64766C"/>
                </a:solidFill>
                <a:latin typeface="Apple SD Gothic Neo"/>
                <a:ea typeface="Apple SD Gothic Neo"/>
                <a:cs typeface="Apple SD Gothic Neo"/>
              </a:defRPr>
            </a:pPr>
            <a:r>
              <a:rPr sz="2325" b="0">
                <a:solidFill>
                  <a:srgbClr val="64766C"/>
                </a:solidFill>
                <a:latin typeface="Apple SD Gothic Neo"/>
                <a:ea typeface="Apple SD Gothic Neo"/>
                <a:cs typeface="Apple SD Gothic Neo"/>
              </a:rPr>
              <a:t>Demo eligibility policy</a:t>
            </a:r>
          </a:p>
        </p:txBody>
      </p:sp>
      <p:sp>
        <p:nvSpPr>
          <p:cNvPr id="3" name="">
            <a:extLst xmlns:a="http://schemas.openxmlformats.org/drawingml/2006/main">
              <a:ext uri="{FF2B5EF4-FFF2-40B4-BE49-F238E27FC236}">
                <a16:creationId xmlns:a16="http://schemas.microsoft.com/office/drawing/2014/main" id="{199212C6-E915-4A7D-B2B5-CFB0EBC5105D}"/>
              </a:ext>
            </a:extLst>
          </p:cNvPr>
          <p:cNvSpPr>
            <a:spLocks xmlns:a="http://schemas.openxmlformats.org/drawingml/2006/main" noGrp="1"/>
          </p:cNvSpPr>
          <p:nvPr/>
        </p:nvSpPr>
        <p:spPr>
          <a:xfrm xmlns:a="http://schemas.openxmlformats.org/drawingml/2006/main">
            <a:off x="685800" y="2095500"/>
            <a:ext cx="4572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675" b="1">
                <a:solidFill>
                  <a:srgbClr val="2D6350"/>
                </a:solidFill>
                <a:latin typeface="Apple SD Gothic Neo"/>
                <a:ea typeface="Apple SD Gothic Neo"/>
                <a:cs typeface="Apple SD Gothic Neo"/>
              </a:defRPr>
            </a:pPr>
            <a:r>
              <a:rPr sz="3675" b="1">
                <a:solidFill>
                  <a:srgbClr val="2D6350"/>
                </a:solidFill>
                <a:latin typeface="Apple SD Gothic Neo"/>
                <a:ea typeface="Apple SD Gothic Neo"/>
                <a:cs typeface="Apple SD Gothic Neo"/>
              </a:rPr>
              <a:t>₩50,000,000+</a:t>
            </a:r>
          </a:p>
        </p:txBody>
      </p:sp>
      <p:sp>
        <p:nvSpPr>
          <p:cNvPr id="4" name="">
            <a:extLst xmlns:a="http://schemas.openxmlformats.org/drawingml/2006/main">
              <a:ext uri="{FF2B5EF4-FFF2-40B4-BE49-F238E27FC236}">
                <a16:creationId xmlns:a16="http://schemas.microsoft.com/office/drawing/2014/main" id="{414D4414-F972-4994-8D62-00AD63D91147}"/>
              </a:ext>
            </a:extLst>
          </p:cNvPr>
          <p:cNvSpPr>
            <a:spLocks xmlns:a="http://schemas.openxmlformats.org/drawingml/2006/main" noGrp="1"/>
          </p:cNvSpPr>
          <p:nvPr/>
        </p:nvSpPr>
        <p:spPr>
          <a:xfrm xmlns:a="http://schemas.openxmlformats.org/drawingml/2006/main">
            <a:off x="5857875" y="2085975"/>
            <a:ext cx="5619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213C33"/>
                </a:solidFill>
                <a:latin typeface="Apple SD Gothic Neo"/>
                <a:ea typeface="Apple SD Gothic Neo"/>
                <a:cs typeface="Apple SD Gothic Neo"/>
              </a:defRPr>
            </a:pPr>
            <a:r>
              <a:rPr sz="2250" b="1">
                <a:solidFill>
                  <a:srgbClr val="213C33"/>
                </a:solidFill>
                <a:latin typeface="Apple SD Gothic Neo"/>
                <a:ea typeface="Apple SD Gothic Neo"/>
                <a:cs typeface="Apple SD Gothic Neo"/>
              </a:rPr>
              <a:t>2025년 연간 소득</a:t>
            </a:r>
          </a:p>
        </p:txBody>
      </p:sp>
      <p:sp>
        <p:nvSpPr>
          <p:cNvPr id="5" name="">
            <a:extLst xmlns:a="http://schemas.openxmlformats.org/drawingml/2006/main">
              <a:ext uri="{FF2B5EF4-FFF2-40B4-BE49-F238E27FC236}">
                <a16:creationId xmlns:a16="http://schemas.microsoft.com/office/drawing/2014/main" id="{D8896819-A538-47A7-A358-293B4D51D79C}"/>
              </a:ext>
            </a:extLst>
          </p:cNvPr>
          <p:cNvSpPr>
            <a:spLocks xmlns:a="http://schemas.openxmlformats.org/drawingml/2006/main" noGrp="1"/>
          </p:cNvSpPr>
          <p:nvPr/>
        </p:nvSpPr>
        <p:spPr>
          <a:xfrm xmlns:a="http://schemas.openxmlformats.org/drawingml/2006/main">
            <a:off x="5857875" y="2552700"/>
            <a:ext cx="5619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64766C"/>
                </a:solidFill>
                <a:latin typeface="Apple SD Gothic Neo"/>
                <a:ea typeface="Apple SD Gothic Neo"/>
                <a:cs typeface="Apple SD Gothic Neo"/>
              </a:defRPr>
            </a:pPr>
            <a:r>
              <a:rPr sz="1875" b="0">
                <a:solidFill>
                  <a:srgbClr val="64766C"/>
                </a:solidFill>
                <a:latin typeface="Apple SD Gothic Neo"/>
                <a:ea typeface="Apple SD Gothic Neo"/>
                <a:cs typeface="Apple SD Gothic Neo"/>
              </a:rPr>
              <a:t>Annual income for 2025</a:t>
            </a:r>
          </a:p>
        </p:txBody>
      </p:sp>
      <p:sp>
        <p:nvSpPr>
          <p:cNvPr id="6" name="">
            <a:extLst xmlns:a="http://schemas.openxmlformats.org/drawingml/2006/main">
              <a:ext uri="{FF2B5EF4-FFF2-40B4-BE49-F238E27FC236}">
                <a16:creationId xmlns:a16="http://schemas.microsoft.com/office/drawing/2014/main" id="{15F7A0C7-6C69-4C01-AD67-B2A57BA1A49D}"/>
              </a:ext>
            </a:extLst>
          </p:cNvPr>
          <p:cNvSpPr>
            <a:spLocks xmlns:a="http://schemas.openxmlformats.org/drawingml/2006/main" noGrp="1"/>
          </p:cNvSpPr>
          <p:nvPr/>
        </p:nvSpPr>
        <p:spPr>
          <a:xfrm xmlns:a="http://schemas.openxmlformats.org/drawingml/2006/main">
            <a:off x="685800" y="3381375"/>
            <a:ext cx="4762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000" b="1">
                <a:solidFill>
                  <a:srgbClr val="2D6350"/>
                </a:solidFill>
                <a:latin typeface="Apple SD Gothic Neo"/>
                <a:ea typeface="Apple SD Gothic Neo"/>
                <a:cs typeface="Apple SD Gothic Neo"/>
              </a:defRPr>
            </a:pPr>
            <a:r>
              <a:rPr sz="3000" b="1">
                <a:solidFill>
                  <a:srgbClr val="2D6350"/>
                </a:solidFill>
                <a:latin typeface="Apple SD Gothic Neo"/>
                <a:ea typeface="Apple SD Gothic Neo"/>
                <a:cs typeface="Apple SD Gothic Neo"/>
              </a:rPr>
              <a:t>혼인 중이 아님</a:t>
            </a:r>
          </a:p>
        </p:txBody>
      </p:sp>
      <p:sp>
        <p:nvSpPr>
          <p:cNvPr id="7" name="">
            <a:extLst xmlns:a="http://schemas.openxmlformats.org/drawingml/2006/main">
              <a:ext uri="{FF2B5EF4-FFF2-40B4-BE49-F238E27FC236}">
                <a16:creationId xmlns:a16="http://schemas.microsoft.com/office/drawing/2014/main" id="{C3C34EEF-FE1F-4B44-BD6D-CBF079411F65}"/>
              </a:ext>
            </a:extLst>
          </p:cNvPr>
          <p:cNvSpPr>
            <a:spLocks xmlns:a="http://schemas.openxmlformats.org/drawingml/2006/main" noGrp="1"/>
          </p:cNvSpPr>
          <p:nvPr/>
        </p:nvSpPr>
        <p:spPr>
          <a:xfrm xmlns:a="http://schemas.openxmlformats.org/drawingml/2006/main">
            <a:off x="5857875" y="3381375"/>
            <a:ext cx="5619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213C33"/>
                </a:solidFill>
                <a:latin typeface="Apple SD Gothic Neo"/>
                <a:ea typeface="Apple SD Gothic Neo"/>
                <a:cs typeface="Apple SD Gothic Neo"/>
              </a:defRPr>
            </a:pPr>
            <a:r>
              <a:rPr sz="2250" b="1">
                <a:solidFill>
                  <a:srgbClr val="213C33"/>
                </a:solidFill>
                <a:latin typeface="Apple SD Gothic Neo"/>
                <a:ea typeface="Apple SD Gothic Neo"/>
                <a:cs typeface="Apple SD Gothic Neo"/>
              </a:rPr>
              <a:t>자료 확인 기준일의 상태</a:t>
            </a:r>
          </a:p>
        </p:txBody>
      </p:sp>
      <p:sp>
        <p:nvSpPr>
          <p:cNvPr id="8" name="">
            <a:extLst xmlns:a="http://schemas.openxmlformats.org/drawingml/2006/main">
              <a:ext uri="{FF2B5EF4-FFF2-40B4-BE49-F238E27FC236}">
                <a16:creationId xmlns:a16="http://schemas.microsoft.com/office/drawing/2014/main" id="{AC2EAF89-11A8-4E7D-A0BA-8B828E31CE36}"/>
              </a:ext>
            </a:extLst>
          </p:cNvPr>
          <p:cNvSpPr>
            <a:spLocks xmlns:a="http://schemas.openxmlformats.org/drawingml/2006/main" noGrp="1"/>
          </p:cNvSpPr>
          <p:nvPr/>
        </p:nvSpPr>
        <p:spPr>
          <a:xfrm xmlns:a="http://schemas.openxmlformats.org/drawingml/2006/main">
            <a:off x="5857875" y="3848100"/>
            <a:ext cx="5619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64766C"/>
                </a:solidFill>
                <a:latin typeface="Apple SD Gothic Neo"/>
                <a:ea typeface="Apple SD Gothic Neo"/>
                <a:cs typeface="Apple SD Gothic Neo"/>
              </a:defRPr>
            </a:pPr>
            <a:r>
              <a:rPr sz="1875" b="0">
                <a:solidFill>
                  <a:srgbClr val="64766C"/>
                </a:solidFill>
                <a:latin typeface="Apple SD Gothic Neo"/>
                <a:ea typeface="Apple SD Gothic Neo"/>
                <a:cs typeface="Apple SD Gothic Neo"/>
              </a:rPr>
              <a:t>Not married on the evidence check date</a:t>
            </a:r>
          </a:p>
        </p:txBody>
      </p:sp>
      <p:sp>
        <p:nvSpPr>
          <p:cNvPr id="9" name="">
            <a:extLst xmlns:a="http://schemas.openxmlformats.org/drawingml/2006/main">
              <a:ext uri="{FF2B5EF4-FFF2-40B4-BE49-F238E27FC236}">
                <a16:creationId xmlns:a16="http://schemas.microsoft.com/office/drawing/2014/main" id="{02978CE0-B035-4586-A156-8AA452B9EF92}"/>
              </a:ext>
            </a:extLst>
          </p:cNvPr>
          <p:cNvSpPr>
            <a:spLocks xmlns:a="http://schemas.openxmlformats.org/drawingml/2006/main" noGrp="1"/>
          </p:cNvSpPr>
          <p:nvPr/>
        </p:nvSpPr>
        <p:spPr>
          <a:xfrm xmlns:a="http://schemas.openxmlformats.org/drawingml/2006/main">
            <a:off x="685800" y="4657725"/>
            <a:ext cx="4762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300" b="1">
                <a:solidFill>
                  <a:srgbClr val="2D6350"/>
                </a:solidFill>
                <a:latin typeface="Apple SD Gothic Neo"/>
                <a:ea typeface="Apple SD Gothic Neo"/>
                <a:cs typeface="Apple SD Gothic Neo"/>
              </a:defRPr>
            </a:pPr>
            <a:r>
              <a:rPr sz="3300" b="1">
                <a:solidFill>
                  <a:srgbClr val="2D6350"/>
                </a:solidFill>
                <a:latin typeface="Apple SD Gothic Neo"/>
                <a:ea typeface="Apple SD Gothic Neo"/>
                <a:cs typeface="Apple SD Gothic Neo"/>
              </a:rPr>
              <a:t>7일 이내</a:t>
            </a:r>
          </a:p>
        </p:txBody>
      </p:sp>
      <p:sp>
        <p:nvSpPr>
          <p:cNvPr id="10" name="">
            <a:extLst xmlns:a="http://schemas.openxmlformats.org/drawingml/2006/main">
              <a:ext uri="{FF2B5EF4-FFF2-40B4-BE49-F238E27FC236}">
                <a16:creationId xmlns:a16="http://schemas.microsoft.com/office/drawing/2014/main" id="{7CBA72B2-D377-46CA-B611-860505889C7A}"/>
              </a:ext>
            </a:extLst>
          </p:cNvPr>
          <p:cNvSpPr>
            <a:spLocks xmlns:a="http://schemas.openxmlformats.org/drawingml/2006/main" noGrp="1"/>
          </p:cNvSpPr>
          <p:nvPr/>
        </p:nvSpPr>
        <p:spPr>
          <a:xfrm xmlns:a="http://schemas.openxmlformats.org/drawingml/2006/main">
            <a:off x="5857875" y="4657725"/>
            <a:ext cx="5619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213C33"/>
                </a:solidFill>
                <a:latin typeface="Apple SD Gothic Neo"/>
                <a:ea typeface="Apple SD Gothic Neo"/>
                <a:cs typeface="Apple SD Gothic Neo"/>
              </a:defRPr>
            </a:pPr>
            <a:r>
              <a:rPr sz="2250" b="1">
                <a:solidFill>
                  <a:srgbClr val="213C33"/>
                </a:solidFill>
                <a:latin typeface="Apple SD Gothic Neo"/>
                <a:ea typeface="Apple SD Gothic Neo"/>
                <a:cs typeface="Apple SD Gothic Neo"/>
              </a:rPr>
              <a:t>요청 종료까지 자료의 최신성 유지</a:t>
            </a:r>
          </a:p>
        </p:txBody>
      </p:sp>
      <p:sp>
        <p:nvSpPr>
          <p:cNvPr id="11" name="">
            <a:extLst xmlns:a="http://schemas.openxmlformats.org/drawingml/2006/main">
              <a:ext uri="{FF2B5EF4-FFF2-40B4-BE49-F238E27FC236}">
                <a16:creationId xmlns:a16="http://schemas.microsoft.com/office/drawing/2014/main" id="{B1DCF407-7DB9-46C7-9510-311DEC42E5BC}"/>
              </a:ext>
            </a:extLst>
          </p:cNvPr>
          <p:cNvSpPr>
            <a:spLocks xmlns:a="http://schemas.openxmlformats.org/drawingml/2006/main" noGrp="1"/>
          </p:cNvSpPr>
          <p:nvPr/>
        </p:nvSpPr>
        <p:spPr>
          <a:xfrm xmlns:a="http://schemas.openxmlformats.org/drawingml/2006/main">
            <a:off x="5857875" y="5124450"/>
            <a:ext cx="5619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64766C"/>
                </a:solidFill>
                <a:latin typeface="Apple SD Gothic Neo"/>
                <a:ea typeface="Apple SD Gothic Neo"/>
                <a:cs typeface="Apple SD Gothic Neo"/>
              </a:defRPr>
            </a:pPr>
            <a:r>
              <a:rPr sz="1875" b="0">
                <a:solidFill>
                  <a:srgbClr val="64766C"/>
                </a:solidFill>
                <a:latin typeface="Apple SD Gothic Neo"/>
                <a:ea typeface="Apple SD Gothic Neo"/>
                <a:cs typeface="Apple SD Gothic Neo"/>
              </a:rPr>
              <a:t>Evidence stays within seven days</a:t>
            </a:r>
          </a:p>
          <a:p xmlns:a="http://schemas.openxmlformats.org/drawingml/2006/main">
            <a:pPr algn="l">
              <a:defRPr sz="1875" b="0">
                <a:solidFill>
                  <a:srgbClr val="64766C"/>
                </a:solidFill>
                <a:latin typeface="Apple SD Gothic Neo"/>
                <a:ea typeface="Apple SD Gothic Neo"/>
                <a:cs typeface="Apple SD Gothic Neo"/>
              </a:defRPr>
            </a:pPr>
            <a:r>
              <a:rPr sz="1875" b="0">
                <a:solidFill>
                  <a:srgbClr val="64766C"/>
                </a:solidFill>
                <a:latin typeface="Apple SD Gothic Neo"/>
                <a:ea typeface="Apple SD Gothic Neo"/>
                <a:cs typeface="Apple SD Gothic Neo"/>
              </a:rPr>
              <a:t>through the request deadline</a:t>
            </a:r>
          </a:p>
        </p:txBody>
      </p:sp>
      <p:sp>
        <p:nvSpPr>
          <p:cNvPr id="12" name="">
            <a:extLst xmlns:a="http://schemas.openxmlformats.org/drawingml/2006/main">
              <a:ext uri="{FF2B5EF4-FFF2-40B4-BE49-F238E27FC236}">
                <a16:creationId xmlns:a16="http://schemas.microsoft.com/office/drawing/2014/main" id="{00C959B0-6DE5-47E5-A1BD-4AB974431A24}"/>
              </a:ext>
            </a:extLst>
          </p:cNvPr>
          <p:cNvSpPr>
            <a:spLocks xmlns:a="http://schemas.openxmlformats.org/drawingml/2006/main" noGrp="1"/>
          </p:cNvSpPr>
          <p:nvPr/>
        </p:nvSpPr>
        <p:spPr>
          <a:xfrm xmlns:a="http://schemas.openxmlformats.org/drawingml/2006/main">
            <a:off x="685800" y="6096000"/>
            <a:ext cx="10820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64766C"/>
                </a:solidFill>
                <a:latin typeface="Apple SD Gothic Neo"/>
                <a:ea typeface="Apple SD Gothic Neo"/>
                <a:cs typeface="Apple SD Gothic Neo"/>
              </a:defRPr>
            </a:pPr>
            <a:r>
              <a:rPr sz="1725" b="0">
                <a:solidFill>
                  <a:srgbClr val="64766C"/>
                </a:solidFill>
                <a:latin typeface="Apple SD Gothic Neo"/>
                <a:ea typeface="Apple SD Gothic Neo"/>
                <a:cs typeface="Apple SD Gothic Neo"/>
              </a:rPr>
              <a:t>가상 데모 정책  /  Synthetic demonstration criteria</a:t>
            </a:r>
          </a:p>
        </p:txBody>
      </p:sp>
    </p:spTree>
    <p:extLst>
      <p:ext uri="{BB962C8B-B14F-4D97-AF65-F5344CB8AC3E}">
        <p14:creationId xmlns:p14="http://schemas.microsoft.com/office/powerpoint/2010/main" val="1945197575"/>
      </p:ext>
    </p:extLst>
  </p:cSld>
</p:sld>
</file>

<file path=ppt/slides/slide3.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35EE3412-BC69-4AE7-AFC8-A184649DB8E8}"/>
              </a:ext>
            </a:extLst>
          </p:cNvPr>
          <p:cNvSpPr>
            <a:spLocks xmlns:a="http://schemas.openxmlformats.org/drawingml/2006/main" noGrp="1"/>
          </p:cNvSpPr>
          <p:nvPr/>
        </p:nvSpPr>
        <p:spPr>
          <a:xfrm xmlns:a="http://schemas.openxmlformats.org/drawingml/2006/main">
            <a:off x="685800" y="476250"/>
            <a:ext cx="10820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300" b="1">
                <a:solidFill>
                  <a:srgbClr val="213C33"/>
                </a:solidFill>
                <a:latin typeface="Apple SD Gothic Neo"/>
                <a:ea typeface="Apple SD Gothic Neo"/>
                <a:cs typeface="Apple SD Gothic Neo"/>
              </a:defRPr>
            </a:pPr>
            <a:r>
              <a:rPr sz="3300" b="1">
                <a:solidFill>
                  <a:srgbClr val="213C33"/>
                </a:solidFill>
                <a:latin typeface="Apple SD Gothic Neo"/>
                <a:ea typeface="Apple SD Gothic Neo"/>
                <a:cs typeface="Apple SD Gothic Neo"/>
              </a:rPr>
              <a:t>신청자 동의와 공개 범위</a:t>
            </a:r>
          </a:p>
        </p:txBody>
      </p:sp>
      <p:sp>
        <p:nvSpPr>
          <p:cNvPr id="2" name="">
            <a:extLst xmlns:a="http://schemas.openxmlformats.org/drawingml/2006/main">
              <a:ext uri="{FF2B5EF4-FFF2-40B4-BE49-F238E27FC236}">
                <a16:creationId xmlns:a16="http://schemas.microsoft.com/office/drawing/2014/main" id="{16950E37-66EE-49C3-B0A2-CAA79A9CB689}"/>
              </a:ext>
            </a:extLst>
          </p:cNvPr>
          <p:cNvSpPr>
            <a:spLocks xmlns:a="http://schemas.openxmlformats.org/drawingml/2006/main" noGrp="1"/>
          </p:cNvSpPr>
          <p:nvPr/>
        </p:nvSpPr>
        <p:spPr>
          <a:xfrm xmlns:a="http://schemas.openxmlformats.org/drawingml/2006/main">
            <a:off x="685800" y="1143000"/>
            <a:ext cx="108204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325" b="0">
                <a:solidFill>
                  <a:srgbClr val="64766C"/>
                </a:solidFill>
                <a:latin typeface="Apple SD Gothic Neo"/>
                <a:ea typeface="Apple SD Gothic Neo"/>
                <a:cs typeface="Apple SD Gothic Neo"/>
              </a:defRPr>
            </a:pPr>
            <a:r>
              <a:rPr sz="2325" b="0">
                <a:solidFill>
                  <a:srgbClr val="64766C"/>
                </a:solidFill>
                <a:latin typeface="Apple SD Gothic Neo"/>
                <a:ea typeface="Apple SD Gothic Neo"/>
                <a:cs typeface="Apple SD Gothic Neo"/>
              </a:rPr>
              <a:t>Applicant consent and disclosure</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26b04eac624b4eee"/>
          <a:stretch xmlns:a="http://schemas.openxmlformats.org/drawingml/2006/main"/>
        </p:blipFill>
        <p:spPr>
          <a:xfrm xmlns:a="http://schemas.openxmlformats.org/drawingml/2006/main">
            <a:off x="609600" y="2135712"/>
            <a:ext cx="7143750" cy="4348701"/>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BA183313-6AD3-4B27-9C40-BB77C2A39A56}"/>
              </a:ext>
            </a:extLst>
          </p:cNvPr>
          <p:cNvSpPr>
            <a:spLocks xmlns:a="http://schemas.openxmlformats.org/drawingml/2006/main" noGrp="1"/>
          </p:cNvSpPr>
          <p:nvPr/>
        </p:nvSpPr>
        <p:spPr>
          <a:xfrm xmlns:a="http://schemas.openxmlformats.org/drawingml/2006/main">
            <a:off x="8096250" y="2143125"/>
            <a:ext cx="3429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1">
                <a:solidFill>
                  <a:srgbClr val="213C33"/>
                </a:solidFill>
                <a:latin typeface="Apple SD Gothic Neo"/>
                <a:ea typeface="Apple SD Gothic Neo"/>
                <a:cs typeface="Apple SD Gothic Neo"/>
              </a:defRPr>
            </a:pPr>
            <a:r>
              <a:rPr sz="2100" b="1">
                <a:solidFill>
                  <a:srgbClr val="213C33"/>
                </a:solidFill>
                <a:latin typeface="Apple SD Gothic Neo"/>
                <a:ea typeface="Apple SD Gothic Neo"/>
                <a:cs typeface="Apple SD Gothic Neo"/>
              </a:rPr>
              <a:t>자격과 요청 가져오기</a:t>
            </a:r>
          </a:p>
        </p:txBody>
      </p:sp>
      <p:sp>
        <p:nvSpPr>
          <p:cNvPr id="5" name="">
            <a:extLst xmlns:a="http://schemas.openxmlformats.org/drawingml/2006/main">
              <a:ext uri="{FF2B5EF4-FFF2-40B4-BE49-F238E27FC236}">
                <a16:creationId xmlns:a16="http://schemas.microsoft.com/office/drawing/2014/main" id="{21E807AF-979D-43CC-BFE5-87A16A5AB97C}"/>
              </a:ext>
            </a:extLst>
          </p:cNvPr>
          <p:cNvSpPr>
            <a:spLocks xmlns:a="http://schemas.openxmlformats.org/drawingml/2006/main" noGrp="1"/>
          </p:cNvSpPr>
          <p:nvPr/>
        </p:nvSpPr>
        <p:spPr>
          <a:xfrm xmlns:a="http://schemas.openxmlformats.org/drawingml/2006/main">
            <a:off x="8096250" y="2581275"/>
            <a:ext cx="3429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0">
                <a:solidFill>
                  <a:srgbClr val="64766C"/>
                </a:solidFill>
                <a:latin typeface="Apple SD Gothic Neo"/>
                <a:ea typeface="Apple SD Gothic Neo"/>
                <a:cs typeface="Apple SD Gothic Neo"/>
              </a:defRPr>
            </a:pPr>
            <a:r>
              <a:rPr sz="1800" b="0">
                <a:solidFill>
                  <a:srgbClr val="64766C"/>
                </a:solidFill>
                <a:latin typeface="Apple SD Gothic Neo"/>
                <a:ea typeface="Apple SD Gothic Neo"/>
                <a:cs typeface="Apple SD Gothic Neo"/>
              </a:rPr>
              <a:t>Import credential and request</a:t>
            </a:r>
          </a:p>
        </p:txBody>
      </p:sp>
      <p:sp>
        <p:nvSpPr>
          <p:cNvPr id="6" name="">
            <a:extLst xmlns:a="http://schemas.openxmlformats.org/drawingml/2006/main">
              <a:ext uri="{FF2B5EF4-FFF2-40B4-BE49-F238E27FC236}">
                <a16:creationId xmlns:a16="http://schemas.microsoft.com/office/drawing/2014/main" id="{3242D4EF-2474-4124-BD55-DBF9D631B151}"/>
              </a:ext>
            </a:extLst>
          </p:cNvPr>
          <p:cNvSpPr>
            <a:spLocks xmlns:a="http://schemas.openxmlformats.org/drawingml/2006/main" noGrp="1"/>
          </p:cNvSpPr>
          <p:nvPr/>
        </p:nvSpPr>
        <p:spPr>
          <a:xfrm xmlns:a="http://schemas.openxmlformats.org/drawingml/2006/main">
            <a:off x="8096250" y="3371850"/>
            <a:ext cx="342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1">
                <a:solidFill>
                  <a:srgbClr val="213C33"/>
                </a:solidFill>
                <a:latin typeface="Apple SD Gothic Neo"/>
                <a:ea typeface="Apple SD Gothic Neo"/>
                <a:cs typeface="Apple SD Gothic Neo"/>
              </a:defRPr>
            </a:pPr>
            <a:r>
              <a:rPr sz="2100" b="1">
                <a:solidFill>
                  <a:srgbClr val="213C33"/>
                </a:solidFill>
                <a:latin typeface="Apple SD Gothic Neo"/>
                <a:ea typeface="Apple SD Gothic Neo"/>
                <a:cs typeface="Apple SD Gothic Neo"/>
              </a:rPr>
              <a:t>수신자·조건·기한 확인</a:t>
            </a:r>
          </a:p>
        </p:txBody>
      </p:sp>
      <p:sp>
        <p:nvSpPr>
          <p:cNvPr id="7" name="">
            <a:extLst xmlns:a="http://schemas.openxmlformats.org/drawingml/2006/main">
              <a:ext uri="{FF2B5EF4-FFF2-40B4-BE49-F238E27FC236}">
                <a16:creationId xmlns:a16="http://schemas.microsoft.com/office/drawing/2014/main" id="{D09CEB3D-B11E-4CA9-96AD-FBF5B3184E34}"/>
              </a:ext>
            </a:extLst>
          </p:cNvPr>
          <p:cNvSpPr>
            <a:spLocks xmlns:a="http://schemas.openxmlformats.org/drawingml/2006/main" noGrp="1"/>
          </p:cNvSpPr>
          <p:nvPr/>
        </p:nvSpPr>
        <p:spPr>
          <a:xfrm xmlns:a="http://schemas.openxmlformats.org/drawingml/2006/main">
            <a:off x="8096250" y="3924300"/>
            <a:ext cx="342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0">
                <a:solidFill>
                  <a:srgbClr val="64766C"/>
                </a:solidFill>
                <a:latin typeface="Apple SD Gothic Neo"/>
                <a:ea typeface="Apple SD Gothic Neo"/>
                <a:cs typeface="Apple SD Gothic Neo"/>
              </a:defRPr>
            </a:pPr>
            <a:r>
              <a:rPr sz="1800" b="0">
                <a:solidFill>
                  <a:srgbClr val="64766C"/>
                </a:solidFill>
                <a:latin typeface="Apple SD Gothic Neo"/>
                <a:ea typeface="Apple SD Gothic Neo"/>
                <a:cs typeface="Apple SD Gothic Neo"/>
              </a:rPr>
              <a:t>Review recipient, policy</a:t>
            </a:r>
          </a:p>
          <a:p xmlns:a="http://schemas.openxmlformats.org/drawingml/2006/main">
            <a:pPr algn="l">
              <a:defRPr sz="1800" b="0">
                <a:solidFill>
                  <a:srgbClr val="64766C"/>
                </a:solidFill>
                <a:latin typeface="Apple SD Gothic Neo"/>
                <a:ea typeface="Apple SD Gothic Neo"/>
                <a:cs typeface="Apple SD Gothic Neo"/>
              </a:defRPr>
            </a:pPr>
            <a:r>
              <a:rPr sz="1800" b="0">
                <a:solidFill>
                  <a:srgbClr val="64766C"/>
                </a:solidFill>
                <a:latin typeface="Apple SD Gothic Neo"/>
                <a:ea typeface="Apple SD Gothic Neo"/>
                <a:cs typeface="Apple SD Gothic Neo"/>
              </a:rPr>
              <a:t>and deadline</a:t>
            </a:r>
          </a:p>
        </p:txBody>
      </p:sp>
      <p:sp>
        <p:nvSpPr>
          <p:cNvPr id="8" name="">
            <a:extLst xmlns:a="http://schemas.openxmlformats.org/drawingml/2006/main">
              <a:ext uri="{FF2B5EF4-FFF2-40B4-BE49-F238E27FC236}">
                <a16:creationId xmlns:a16="http://schemas.microsoft.com/office/drawing/2014/main" id="{7AE4A25E-95FA-4314-BBC1-040A335D6DDD}"/>
              </a:ext>
            </a:extLst>
          </p:cNvPr>
          <p:cNvSpPr>
            <a:spLocks xmlns:a="http://schemas.openxmlformats.org/drawingml/2006/main" noGrp="1"/>
          </p:cNvSpPr>
          <p:nvPr/>
        </p:nvSpPr>
        <p:spPr>
          <a:xfrm xmlns:a="http://schemas.openxmlformats.org/drawingml/2006/main">
            <a:off x="8096250" y="4972050"/>
            <a:ext cx="3429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1">
                <a:solidFill>
                  <a:srgbClr val="213C33"/>
                </a:solidFill>
                <a:latin typeface="Apple SD Gothic Neo"/>
                <a:ea typeface="Apple SD Gothic Neo"/>
                <a:cs typeface="Apple SD Gothic Neo"/>
              </a:defRPr>
            </a:pPr>
            <a:r>
              <a:rPr sz="2100" b="1">
                <a:solidFill>
                  <a:srgbClr val="213C33"/>
                </a:solidFill>
                <a:latin typeface="Apple SD Gothic Neo"/>
                <a:ea typeface="Apple SD Gothic Neo"/>
                <a:cs typeface="Apple SD Gothic Neo"/>
              </a:rPr>
              <a:t>동의 후 증명 시작</a:t>
            </a:r>
          </a:p>
        </p:txBody>
      </p:sp>
      <p:sp>
        <p:nvSpPr>
          <p:cNvPr id="9" name="">
            <a:extLst xmlns:a="http://schemas.openxmlformats.org/drawingml/2006/main">
              <a:ext uri="{FF2B5EF4-FFF2-40B4-BE49-F238E27FC236}">
                <a16:creationId xmlns:a16="http://schemas.microsoft.com/office/drawing/2014/main" id="{8D5DCD7D-F725-4837-B95A-B443D6A7591F}"/>
              </a:ext>
            </a:extLst>
          </p:cNvPr>
          <p:cNvSpPr>
            <a:spLocks xmlns:a="http://schemas.openxmlformats.org/drawingml/2006/main" noGrp="1"/>
          </p:cNvSpPr>
          <p:nvPr/>
        </p:nvSpPr>
        <p:spPr>
          <a:xfrm xmlns:a="http://schemas.openxmlformats.org/drawingml/2006/main">
            <a:off x="8096250" y="5410200"/>
            <a:ext cx="3429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0">
                <a:solidFill>
                  <a:srgbClr val="64766C"/>
                </a:solidFill>
                <a:latin typeface="Apple SD Gothic Neo"/>
                <a:ea typeface="Apple SD Gothic Neo"/>
                <a:cs typeface="Apple SD Gothic Neo"/>
              </a:defRPr>
            </a:pPr>
            <a:r>
              <a:rPr sz="1800" b="0">
                <a:solidFill>
                  <a:srgbClr val="64766C"/>
                </a:solidFill>
                <a:latin typeface="Apple SD Gothic Neo"/>
                <a:ea typeface="Apple SD Gothic Neo"/>
                <a:cs typeface="Apple SD Gothic Neo"/>
              </a:rPr>
              <a:t>Consent, then start the proof</a:t>
            </a:r>
          </a:p>
        </p:txBody>
      </p:sp>
    </p:spTree>
    <p:extLst>
      <p:ext uri="{BB962C8B-B14F-4D97-AF65-F5344CB8AC3E}">
        <p14:creationId xmlns:p14="http://schemas.microsoft.com/office/powerpoint/2010/main" val="1075491076"/>
      </p:ext>
    </p:extLst>
  </p:cSld>
</p:sld>
</file>

<file path=ppt/slides/slide4.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A38DCF7E-CB51-4667-A4E2-8757E3A35A7B}"/>
              </a:ext>
            </a:extLst>
          </p:cNvPr>
          <p:cNvSpPr>
            <a:spLocks xmlns:a="http://schemas.openxmlformats.org/drawingml/2006/main" noGrp="1"/>
          </p:cNvSpPr>
          <p:nvPr/>
        </p:nvSpPr>
        <p:spPr>
          <a:xfrm xmlns:a="http://schemas.openxmlformats.org/drawingml/2006/main">
            <a:off x="685800" y="476250"/>
            <a:ext cx="10820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300" b="1">
                <a:solidFill>
                  <a:srgbClr val="213C33"/>
                </a:solidFill>
                <a:latin typeface="Apple SD Gothic Neo"/>
                <a:ea typeface="Apple SD Gothic Neo"/>
                <a:cs typeface="Apple SD Gothic Neo"/>
              </a:defRPr>
            </a:pPr>
            <a:r>
              <a:rPr sz="3300" b="1">
                <a:solidFill>
                  <a:srgbClr val="213C33"/>
                </a:solidFill>
                <a:latin typeface="Apple SD Gothic Neo"/>
                <a:ea typeface="Apple SD Gothic Neo"/>
                <a:cs typeface="Apple SD Gothic Neo"/>
              </a:rPr>
              <a:t>비공개 입력과 공개 기록</a:t>
            </a:r>
          </a:p>
        </p:txBody>
      </p:sp>
      <p:sp>
        <p:nvSpPr>
          <p:cNvPr id="2" name="">
            <a:extLst xmlns:a="http://schemas.openxmlformats.org/drawingml/2006/main">
              <a:ext uri="{FF2B5EF4-FFF2-40B4-BE49-F238E27FC236}">
                <a16:creationId xmlns:a16="http://schemas.microsoft.com/office/drawing/2014/main" id="{F2740EFC-33B7-4D6F-80D3-F480F643FE79}"/>
              </a:ext>
            </a:extLst>
          </p:cNvPr>
          <p:cNvSpPr>
            <a:spLocks xmlns:a="http://schemas.openxmlformats.org/drawingml/2006/main" noGrp="1"/>
          </p:cNvSpPr>
          <p:nvPr/>
        </p:nvSpPr>
        <p:spPr>
          <a:xfrm xmlns:a="http://schemas.openxmlformats.org/drawingml/2006/main">
            <a:off x="685800" y="1143000"/>
            <a:ext cx="108204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325" b="0">
                <a:solidFill>
                  <a:srgbClr val="64766C"/>
                </a:solidFill>
                <a:latin typeface="Apple SD Gothic Neo"/>
                <a:ea typeface="Apple SD Gothic Neo"/>
                <a:cs typeface="Apple SD Gothic Neo"/>
              </a:defRPr>
            </a:pPr>
            <a:r>
              <a:rPr sz="2325" b="0">
                <a:solidFill>
                  <a:srgbClr val="64766C"/>
                </a:solidFill>
                <a:latin typeface="Apple SD Gothic Neo"/>
                <a:ea typeface="Apple SD Gothic Neo"/>
                <a:cs typeface="Apple SD Gothic Neo"/>
              </a:rPr>
              <a:t>Private inputs and public records</a:t>
            </a:r>
          </a:p>
        </p:txBody>
      </p:sp>
      <p:sp>
        <p:nvSpPr>
          <p:cNvPr id="3" name="">
            <a:extLst xmlns:a="http://schemas.openxmlformats.org/drawingml/2006/main">
              <a:ext uri="{FF2B5EF4-FFF2-40B4-BE49-F238E27FC236}">
                <a16:creationId xmlns:a16="http://schemas.microsoft.com/office/drawing/2014/main" id="{8836FA41-A6B5-4A39-A5D8-3BC293234B49}"/>
              </a:ext>
            </a:extLst>
          </p:cNvPr>
          <p:cNvSpPr>
            <a:spLocks xmlns:a="http://schemas.openxmlformats.org/drawingml/2006/main" noGrp="1"/>
          </p:cNvSpPr>
          <p:nvPr/>
        </p:nvSpPr>
        <p:spPr>
          <a:xfrm xmlns:a="http://schemas.openxmlformats.org/drawingml/2006/main">
            <a:off x="685800" y="2095500"/>
            <a:ext cx="5048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550" b="1">
                <a:solidFill>
                  <a:srgbClr val="2D6350"/>
                </a:solidFill>
                <a:latin typeface="Apple SD Gothic Neo"/>
                <a:ea typeface="Apple SD Gothic Neo"/>
                <a:cs typeface="Apple SD Gothic Neo"/>
              </a:defRPr>
            </a:pPr>
            <a:r>
              <a:rPr sz="2550" b="1">
                <a:solidFill>
                  <a:srgbClr val="2D6350"/>
                </a:solidFill>
                <a:latin typeface="Apple SD Gothic Neo"/>
                <a:ea typeface="Apple SD Gothic Neo"/>
                <a:cs typeface="Apple SD Gothic Neo"/>
              </a:rPr>
              <a:t>비공개 입력</a:t>
            </a:r>
          </a:p>
        </p:txBody>
      </p:sp>
      <p:sp>
        <p:nvSpPr>
          <p:cNvPr id="4" name="">
            <a:extLst xmlns:a="http://schemas.openxmlformats.org/drawingml/2006/main">
              <a:ext uri="{FF2B5EF4-FFF2-40B4-BE49-F238E27FC236}">
                <a16:creationId xmlns:a16="http://schemas.microsoft.com/office/drawing/2014/main" id="{841149B8-F3CF-4644-9A6E-678E6A8E9645}"/>
              </a:ext>
            </a:extLst>
          </p:cNvPr>
          <p:cNvSpPr>
            <a:spLocks xmlns:a="http://schemas.openxmlformats.org/drawingml/2006/main" noGrp="1"/>
          </p:cNvSpPr>
          <p:nvPr/>
        </p:nvSpPr>
        <p:spPr>
          <a:xfrm xmlns:a="http://schemas.openxmlformats.org/drawingml/2006/main">
            <a:off x="685800" y="2609850"/>
            <a:ext cx="5048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64766C"/>
                </a:solidFill>
                <a:latin typeface="Apple SD Gothic Neo"/>
                <a:ea typeface="Apple SD Gothic Neo"/>
                <a:cs typeface="Apple SD Gothic Neo"/>
              </a:defRPr>
            </a:pPr>
            <a:r>
              <a:rPr sz="1875" b="0">
                <a:solidFill>
                  <a:srgbClr val="64766C"/>
                </a:solidFill>
                <a:latin typeface="Apple SD Gothic Neo"/>
                <a:ea typeface="Apple SD Gothic Neo"/>
                <a:cs typeface="Apple SD Gothic Neo"/>
              </a:rPr>
              <a:t>Private inputs</a:t>
            </a:r>
          </a:p>
        </p:txBody>
      </p:sp>
      <p:sp>
        <p:nvSpPr>
          <p:cNvPr id="5" name="">
            <a:extLst xmlns:a="http://schemas.openxmlformats.org/drawingml/2006/main">
              <a:ext uri="{FF2B5EF4-FFF2-40B4-BE49-F238E27FC236}">
                <a16:creationId xmlns:a16="http://schemas.microsoft.com/office/drawing/2014/main" id="{6FB701BC-AD39-4D57-9E17-8F653DE42197}"/>
              </a:ext>
            </a:extLst>
          </p:cNvPr>
          <p:cNvSpPr>
            <a:spLocks xmlns:a="http://schemas.openxmlformats.org/drawingml/2006/main" noGrp="1"/>
          </p:cNvSpPr>
          <p:nvPr/>
        </p:nvSpPr>
        <p:spPr>
          <a:xfrm xmlns:a="http://schemas.openxmlformats.org/drawingml/2006/main">
            <a:off x="685800" y="3200400"/>
            <a:ext cx="50006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0">
                <a:solidFill>
                  <a:srgbClr val="213C33"/>
                </a:solidFill>
                <a:latin typeface="Apple SD Gothic Neo"/>
                <a:ea typeface="Apple SD Gothic Neo"/>
                <a:cs typeface="Apple SD Gothic Neo"/>
              </a:defRPr>
            </a:pPr>
            <a:r>
              <a:rPr sz="2250" b="0">
                <a:solidFill>
                  <a:srgbClr val="213C33"/>
                </a:solidFill>
                <a:latin typeface="Apple SD Gothic Neo"/>
                <a:ea typeface="Apple SD Gothic Neo"/>
                <a:cs typeface="Apple SD Gothic Neo"/>
              </a:rPr>
              <a:t>정확한 소득과 확인일 상태</a:t>
            </a:r>
          </a:p>
          <a:p xmlns:a="http://schemas.openxmlformats.org/drawingml/2006/main">
            <a:pPr algn="l">
              <a:defRPr sz="2250" b="0">
                <a:solidFill>
                  <a:srgbClr val="213C33"/>
                </a:solidFill>
                <a:latin typeface="Apple SD Gothic Neo"/>
                <a:ea typeface="Apple SD Gothic Neo"/>
                <a:cs typeface="Apple SD Gothic Neo"/>
              </a:defRPr>
            </a:pPr>
            <a:r>
              <a:rPr sz="2250" b="0">
                <a:solidFill>
                  <a:srgbClr val="213C33"/>
                </a:solidFill>
                <a:latin typeface="Apple SD Gothic Neo"/>
                <a:ea typeface="Apple SD Gothic Neo"/>
                <a:cs typeface="Apple SD Gothic Neo"/>
              </a:rPr>
              <a:t>자격 세부 값과 비밀키</a:t>
            </a:r>
          </a:p>
        </p:txBody>
      </p:sp>
      <p:sp>
        <p:nvSpPr>
          <p:cNvPr id="6" name="">
            <a:extLst xmlns:a="http://schemas.openxmlformats.org/drawingml/2006/main">
              <a:ext uri="{FF2B5EF4-FFF2-40B4-BE49-F238E27FC236}">
                <a16:creationId xmlns:a16="http://schemas.microsoft.com/office/drawing/2014/main" id="{6458B5AD-769C-44A3-9600-6C93541C5240}"/>
              </a:ext>
            </a:extLst>
          </p:cNvPr>
          <p:cNvSpPr>
            <a:spLocks xmlns:a="http://schemas.openxmlformats.org/drawingml/2006/main" noGrp="1"/>
          </p:cNvSpPr>
          <p:nvPr/>
        </p:nvSpPr>
        <p:spPr>
          <a:xfrm xmlns:a="http://schemas.openxmlformats.org/drawingml/2006/main">
            <a:off x="685800" y="4333875"/>
            <a:ext cx="50006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64766C"/>
                </a:solidFill>
                <a:latin typeface="Apple SD Gothic Neo"/>
                <a:ea typeface="Apple SD Gothic Neo"/>
                <a:cs typeface="Apple SD Gothic Neo"/>
              </a:defRPr>
            </a:pPr>
            <a:r>
              <a:rPr sz="1875" b="0">
                <a:solidFill>
                  <a:srgbClr val="64766C"/>
                </a:solidFill>
                <a:latin typeface="Apple SD Gothic Neo"/>
                <a:ea typeface="Apple SD Gothic Neo"/>
                <a:cs typeface="Apple SD Gothic Neo"/>
              </a:rPr>
              <a:t>Exact income and dated status</a:t>
            </a:r>
          </a:p>
          <a:p xmlns:a="http://schemas.openxmlformats.org/drawingml/2006/main">
            <a:pPr algn="l">
              <a:defRPr sz="1875" b="0">
                <a:solidFill>
                  <a:srgbClr val="64766C"/>
                </a:solidFill>
                <a:latin typeface="Apple SD Gothic Neo"/>
                <a:ea typeface="Apple SD Gothic Neo"/>
                <a:cs typeface="Apple SD Gothic Neo"/>
              </a:defRPr>
            </a:pPr>
            <a:r>
              <a:rPr sz="1875" b="0">
                <a:solidFill>
                  <a:srgbClr val="64766C"/>
                </a:solidFill>
                <a:latin typeface="Apple SD Gothic Neo"/>
                <a:ea typeface="Apple SD Gothic Neo"/>
                <a:cs typeface="Apple SD Gothic Neo"/>
              </a:rPr>
              <a:t>Credential details and secret keys</a:t>
            </a:r>
          </a:p>
        </p:txBody>
      </p:sp>
      <p:sp>
        <p:nvSpPr>
          <p:cNvPr id="7" name="">
            <a:extLst xmlns:a="http://schemas.openxmlformats.org/drawingml/2006/main">
              <a:ext uri="{FF2B5EF4-FFF2-40B4-BE49-F238E27FC236}">
                <a16:creationId xmlns:a16="http://schemas.microsoft.com/office/drawing/2014/main" id="{0014C9A0-7D35-41A8-8920-ECC83E09501C}"/>
              </a:ext>
            </a:extLst>
          </p:cNvPr>
          <p:cNvSpPr>
            <a:spLocks xmlns:a="http://schemas.openxmlformats.org/drawingml/2006/main" noGrp="1"/>
          </p:cNvSpPr>
          <p:nvPr/>
        </p:nvSpPr>
        <p:spPr>
          <a:xfrm xmlns:a="http://schemas.openxmlformats.org/drawingml/2006/main">
            <a:off x="6524625" y="2095500"/>
            <a:ext cx="50006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550" b="1">
                <a:solidFill>
                  <a:srgbClr val="2D6350"/>
                </a:solidFill>
                <a:latin typeface="Apple SD Gothic Neo"/>
                <a:ea typeface="Apple SD Gothic Neo"/>
                <a:cs typeface="Apple SD Gothic Neo"/>
              </a:defRPr>
            </a:pPr>
            <a:r>
              <a:rPr sz="2550" b="1">
                <a:solidFill>
                  <a:srgbClr val="2D6350"/>
                </a:solidFill>
                <a:latin typeface="Apple SD Gothic Neo"/>
                <a:ea typeface="Apple SD Gothic Neo"/>
                <a:cs typeface="Apple SD Gothic Neo"/>
              </a:rPr>
              <a:t>공개 기록</a:t>
            </a:r>
          </a:p>
        </p:txBody>
      </p:sp>
      <p:sp>
        <p:nvSpPr>
          <p:cNvPr id="8" name="">
            <a:extLst xmlns:a="http://schemas.openxmlformats.org/drawingml/2006/main">
              <a:ext uri="{FF2B5EF4-FFF2-40B4-BE49-F238E27FC236}">
                <a16:creationId xmlns:a16="http://schemas.microsoft.com/office/drawing/2014/main" id="{1780ABCF-A79C-4512-9A74-D4F36EF8CB8D}"/>
              </a:ext>
            </a:extLst>
          </p:cNvPr>
          <p:cNvSpPr>
            <a:spLocks xmlns:a="http://schemas.openxmlformats.org/drawingml/2006/main" noGrp="1"/>
          </p:cNvSpPr>
          <p:nvPr/>
        </p:nvSpPr>
        <p:spPr>
          <a:xfrm xmlns:a="http://schemas.openxmlformats.org/drawingml/2006/main">
            <a:off x="6524625" y="2609850"/>
            <a:ext cx="50006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64766C"/>
                </a:solidFill>
                <a:latin typeface="Apple SD Gothic Neo"/>
                <a:ea typeface="Apple SD Gothic Neo"/>
                <a:cs typeface="Apple SD Gothic Neo"/>
              </a:defRPr>
            </a:pPr>
            <a:r>
              <a:rPr sz="1875" b="0">
                <a:solidFill>
                  <a:srgbClr val="64766C"/>
                </a:solidFill>
                <a:latin typeface="Apple SD Gothic Neo"/>
                <a:ea typeface="Apple SD Gothic Neo"/>
                <a:cs typeface="Apple SD Gothic Neo"/>
              </a:rPr>
              <a:t>Public records</a:t>
            </a:r>
          </a:p>
        </p:txBody>
      </p:sp>
      <p:sp>
        <p:nvSpPr>
          <p:cNvPr id="9" name="">
            <a:extLst xmlns:a="http://schemas.openxmlformats.org/drawingml/2006/main">
              <a:ext uri="{FF2B5EF4-FFF2-40B4-BE49-F238E27FC236}">
                <a16:creationId xmlns:a16="http://schemas.microsoft.com/office/drawing/2014/main" id="{7C5F412D-E193-43D2-892C-710E763A7B75}"/>
              </a:ext>
            </a:extLst>
          </p:cNvPr>
          <p:cNvSpPr>
            <a:spLocks xmlns:a="http://schemas.openxmlformats.org/drawingml/2006/main" noGrp="1"/>
          </p:cNvSpPr>
          <p:nvPr/>
        </p:nvSpPr>
        <p:spPr>
          <a:xfrm xmlns:a="http://schemas.openxmlformats.org/drawingml/2006/main">
            <a:off x="6524625" y="3200400"/>
            <a:ext cx="50006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0">
                <a:solidFill>
                  <a:srgbClr val="213C33"/>
                </a:solidFill>
                <a:latin typeface="Apple SD Gothic Neo"/>
                <a:ea typeface="Apple SD Gothic Neo"/>
                <a:cs typeface="Apple SD Gothic Neo"/>
              </a:defRPr>
            </a:pPr>
            <a:r>
              <a:rPr sz="2250" b="0">
                <a:solidFill>
                  <a:srgbClr val="213C33"/>
                </a:solidFill>
                <a:latin typeface="Apple SD Gothic Neo"/>
                <a:ea typeface="Apple SD Gothic Neo"/>
                <a:cs typeface="Apple SD Gothic Neo"/>
              </a:rPr>
              <a:t>Commitment와 심사 정책</a:t>
            </a:r>
          </a:p>
          <a:p xmlns:a="http://schemas.openxmlformats.org/drawingml/2006/main">
            <a:pPr algn="l">
              <a:defRPr sz="2250" b="0">
                <a:solidFill>
                  <a:srgbClr val="213C33"/>
                </a:solidFill>
                <a:latin typeface="Apple SD Gothic Neo"/>
                <a:ea typeface="Apple SD Gothic Neo"/>
                <a:cs typeface="Apple SD Gothic Neo"/>
              </a:defRPr>
            </a:pPr>
            <a:r>
              <a:rPr sz="2250" b="0">
                <a:solidFill>
                  <a:srgbClr val="213C33"/>
                </a:solidFill>
                <a:latin typeface="Apple SD Gothic Neo"/>
                <a:ea typeface="Apple SD Gothic Neo"/>
                <a:cs typeface="Apple SD Gothic Neo"/>
              </a:rPr>
              <a:t>요청 식별값·시각·기한·승인</a:t>
            </a:r>
          </a:p>
        </p:txBody>
      </p:sp>
      <p:sp>
        <p:nvSpPr>
          <p:cNvPr id="10" name="">
            <a:extLst xmlns:a="http://schemas.openxmlformats.org/drawingml/2006/main">
              <a:ext uri="{FF2B5EF4-FFF2-40B4-BE49-F238E27FC236}">
                <a16:creationId xmlns:a16="http://schemas.microsoft.com/office/drawing/2014/main" id="{C7ECDC1C-FBB0-4694-9355-9FF16AE59718}"/>
              </a:ext>
            </a:extLst>
          </p:cNvPr>
          <p:cNvSpPr>
            <a:spLocks xmlns:a="http://schemas.openxmlformats.org/drawingml/2006/main" noGrp="1"/>
          </p:cNvSpPr>
          <p:nvPr/>
        </p:nvSpPr>
        <p:spPr>
          <a:xfrm xmlns:a="http://schemas.openxmlformats.org/drawingml/2006/main">
            <a:off x="6524625" y="4333875"/>
            <a:ext cx="50006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64766C"/>
                </a:solidFill>
                <a:latin typeface="Apple SD Gothic Neo"/>
                <a:ea typeface="Apple SD Gothic Neo"/>
                <a:cs typeface="Apple SD Gothic Neo"/>
              </a:defRPr>
            </a:pPr>
            <a:r>
              <a:rPr sz="1875" b="0">
                <a:solidFill>
                  <a:srgbClr val="64766C"/>
                </a:solidFill>
                <a:latin typeface="Apple SD Gothic Neo"/>
                <a:ea typeface="Apple SD Gothic Neo"/>
                <a:cs typeface="Apple SD Gothic Neo"/>
              </a:rPr>
              <a:t>Commitments, policy, request IDs</a:t>
            </a:r>
          </a:p>
          <a:p xmlns:a="http://schemas.openxmlformats.org/drawingml/2006/main">
            <a:pPr algn="l">
              <a:defRPr sz="1875" b="0">
                <a:solidFill>
                  <a:srgbClr val="64766C"/>
                </a:solidFill>
                <a:latin typeface="Apple SD Gothic Neo"/>
                <a:ea typeface="Apple SD Gothic Neo"/>
                <a:cs typeface="Apple SD Gothic Neo"/>
              </a:defRPr>
            </a:pPr>
            <a:r>
              <a:rPr sz="1875" b="0">
                <a:solidFill>
                  <a:srgbClr val="64766C"/>
                </a:solidFill>
                <a:latin typeface="Apple SD Gothic Neo"/>
                <a:ea typeface="Apple SD Gothic Neo"/>
                <a:cs typeface="Apple SD Gothic Neo"/>
              </a:rPr>
              <a:t>Time bounds and approval records</a:t>
            </a:r>
          </a:p>
        </p:txBody>
      </p:sp>
      <p:sp>
        <p:nvSpPr>
          <p:cNvPr id="11" name="">
            <a:extLst xmlns:a="http://schemas.openxmlformats.org/drawingml/2006/main">
              <a:ext uri="{FF2B5EF4-FFF2-40B4-BE49-F238E27FC236}">
                <a16:creationId xmlns:a16="http://schemas.microsoft.com/office/drawing/2014/main" id="{5747BCED-DBFD-439F-832E-51E6CF4ADDB2}"/>
              </a:ext>
            </a:extLst>
          </p:cNvPr>
          <p:cNvSpPr>
            <a:spLocks xmlns:a="http://schemas.openxmlformats.org/drawingml/2006/main" noGrp="1"/>
          </p:cNvSpPr>
          <p:nvPr/>
        </p:nvSpPr>
        <p:spPr>
          <a:xfrm xmlns:a="http://schemas.openxmlformats.org/drawingml/2006/main">
            <a:off x="685800" y="5572125"/>
            <a:ext cx="10820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1">
                <a:solidFill>
                  <a:srgbClr val="213C33"/>
                </a:solidFill>
                <a:latin typeface="Apple SD Gothic Neo"/>
                <a:ea typeface="Apple SD Gothic Neo"/>
                <a:cs typeface="Apple SD Gothic Neo"/>
              </a:defRPr>
            </a:pPr>
            <a:r>
              <a:rPr sz="2025" b="1">
                <a:solidFill>
                  <a:srgbClr val="213C33"/>
                </a:solidFill>
                <a:latin typeface="Apple SD Gothic Neo"/>
                <a:ea typeface="Apple SD Gothic Neo"/>
                <a:cs typeface="Apple SD Gothic Neo"/>
              </a:rPr>
              <a:t>기관과 신청자는 자료를 알고, 증명 서버는 비공개 입력을 처리합니다.</a:t>
            </a:r>
          </a:p>
        </p:txBody>
      </p:sp>
      <p:sp>
        <p:nvSpPr>
          <p:cNvPr id="12" name="">
            <a:extLst xmlns:a="http://schemas.openxmlformats.org/drawingml/2006/main">
              <a:ext uri="{FF2B5EF4-FFF2-40B4-BE49-F238E27FC236}">
                <a16:creationId xmlns:a16="http://schemas.microsoft.com/office/drawing/2014/main" id="{C57560CE-5006-4711-90A4-177F04D34AF6}"/>
              </a:ext>
            </a:extLst>
          </p:cNvPr>
          <p:cNvSpPr>
            <a:spLocks xmlns:a="http://schemas.openxmlformats.org/drawingml/2006/main" noGrp="1"/>
          </p:cNvSpPr>
          <p:nvPr/>
        </p:nvSpPr>
        <p:spPr>
          <a:xfrm xmlns:a="http://schemas.openxmlformats.org/drawingml/2006/main">
            <a:off x="685800" y="6067425"/>
            <a:ext cx="10820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64766C"/>
                </a:solidFill>
                <a:latin typeface="Apple SD Gothic Neo"/>
                <a:ea typeface="Apple SD Gothic Neo"/>
                <a:cs typeface="Apple SD Gothic Neo"/>
              </a:defRPr>
            </a:pPr>
            <a:r>
              <a:rPr sz="1725" b="0">
                <a:solidFill>
                  <a:srgbClr val="64766C"/>
                </a:solidFill>
                <a:latin typeface="Apple SD Gothic Neo"/>
                <a:ea typeface="Apple SD Gothic Neo"/>
                <a:cs typeface="Apple SD Gothic Neo"/>
              </a:rPr>
              <a:t>The issuer and applicant know the evidence. The proof server processes private inputs.</a:t>
            </a:r>
          </a:p>
        </p:txBody>
      </p:sp>
    </p:spTree>
    <p:extLst>
      <p:ext uri="{BB962C8B-B14F-4D97-AF65-F5344CB8AC3E}">
        <p14:creationId xmlns:p14="http://schemas.microsoft.com/office/powerpoint/2010/main" val="888494093"/>
      </p:ext>
    </p:extLst>
  </p:cSld>
</p:sld>
</file>

<file path=ppt/slides/slide5.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AD8A7AC9-53F0-4CD2-A7FE-0E804739D805}"/>
              </a:ext>
            </a:extLst>
          </p:cNvPr>
          <p:cNvSpPr>
            <a:spLocks xmlns:a="http://schemas.openxmlformats.org/drawingml/2006/main" noGrp="1"/>
          </p:cNvSpPr>
          <p:nvPr/>
        </p:nvSpPr>
        <p:spPr>
          <a:xfrm xmlns:a="http://schemas.openxmlformats.org/drawingml/2006/main">
            <a:off x="685800" y="476250"/>
            <a:ext cx="10820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300" b="1">
                <a:solidFill>
                  <a:srgbClr val="213C33"/>
                </a:solidFill>
                <a:latin typeface="Apple SD Gothic Neo"/>
                <a:ea typeface="Apple SD Gothic Neo"/>
                <a:cs typeface="Apple SD Gothic Neo"/>
              </a:defRPr>
            </a:pPr>
            <a:r>
              <a:rPr sz="3300" b="1">
                <a:solidFill>
                  <a:srgbClr val="213C33"/>
                </a:solidFill>
                <a:latin typeface="Apple SD Gothic Neo"/>
                <a:ea typeface="Apple SD Gothic Neo"/>
                <a:cs typeface="Apple SD Gothic Neo"/>
              </a:rPr>
              <a:t>요청의 유효기간과 남는 기록</a:t>
            </a:r>
          </a:p>
        </p:txBody>
      </p:sp>
      <p:sp>
        <p:nvSpPr>
          <p:cNvPr id="2" name="">
            <a:extLst xmlns:a="http://schemas.openxmlformats.org/drawingml/2006/main">
              <a:ext uri="{FF2B5EF4-FFF2-40B4-BE49-F238E27FC236}">
                <a16:creationId xmlns:a16="http://schemas.microsoft.com/office/drawing/2014/main" id="{94112CBB-CB90-4CBC-A388-56E27E54929B}"/>
              </a:ext>
            </a:extLst>
          </p:cNvPr>
          <p:cNvSpPr>
            <a:spLocks xmlns:a="http://schemas.openxmlformats.org/drawingml/2006/main" noGrp="1"/>
          </p:cNvSpPr>
          <p:nvPr/>
        </p:nvSpPr>
        <p:spPr>
          <a:xfrm xmlns:a="http://schemas.openxmlformats.org/drawingml/2006/main">
            <a:off x="685800" y="1143000"/>
            <a:ext cx="108204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325" b="0">
                <a:solidFill>
                  <a:srgbClr val="64766C"/>
                </a:solidFill>
                <a:latin typeface="Apple SD Gothic Neo"/>
                <a:ea typeface="Apple SD Gothic Neo"/>
                <a:cs typeface="Apple SD Gothic Neo"/>
              </a:defRPr>
            </a:pPr>
            <a:r>
              <a:rPr sz="2325" b="0">
                <a:solidFill>
                  <a:srgbClr val="64766C"/>
                </a:solidFill>
                <a:latin typeface="Apple SD Gothic Neo"/>
                <a:ea typeface="Apple SD Gothic Neo"/>
                <a:cs typeface="Apple SD Gothic Neo"/>
              </a:rPr>
              <a:t>Request expiry and retained history</a:t>
            </a:r>
          </a:p>
        </p:txBody>
      </p:sp>
      <p:sp>
        <p:nvSpPr>
          <p:cNvPr id="3" name="">
            <a:extLst xmlns:a="http://schemas.openxmlformats.org/drawingml/2006/main">
              <a:ext uri="{FF2B5EF4-FFF2-40B4-BE49-F238E27FC236}">
                <a16:creationId xmlns:a16="http://schemas.microsoft.com/office/drawing/2014/main" id="{36BB4583-ADE8-4404-B3D7-3E3C3B8FCBE2}"/>
              </a:ext>
            </a:extLst>
          </p:cNvPr>
          <p:cNvSpPr>
            <a:spLocks xmlns:a="http://schemas.openxmlformats.org/drawingml/2006/main" noGrp="1"/>
          </p:cNvSpPr>
          <p:nvPr/>
        </p:nvSpPr>
        <p:spPr>
          <a:xfrm xmlns:a="http://schemas.openxmlformats.org/drawingml/2006/main">
            <a:off x="685800" y="2238375"/>
            <a:ext cx="3714750" cy="1304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7500" b="1">
                <a:solidFill>
                  <a:srgbClr val="2D6350"/>
                </a:solidFill>
                <a:latin typeface="Apple SD Gothic Neo"/>
                <a:ea typeface="Apple SD Gothic Neo"/>
                <a:cs typeface="Apple SD Gothic Neo"/>
              </a:defRPr>
            </a:pPr>
            <a:r>
              <a:rPr sz="7500" b="1">
                <a:solidFill>
                  <a:srgbClr val="2D6350"/>
                </a:solidFill>
                <a:latin typeface="Apple SD Gothic Neo"/>
                <a:ea typeface="Apple SD Gothic Neo"/>
                <a:cs typeface="Apple SD Gothic Neo"/>
              </a:rPr>
              <a:t>10분</a:t>
            </a:r>
          </a:p>
        </p:txBody>
      </p:sp>
      <p:sp>
        <p:nvSpPr>
          <p:cNvPr id="4" name="">
            <a:extLst xmlns:a="http://schemas.openxmlformats.org/drawingml/2006/main">
              <a:ext uri="{FF2B5EF4-FFF2-40B4-BE49-F238E27FC236}">
                <a16:creationId xmlns:a16="http://schemas.microsoft.com/office/drawing/2014/main" id="{33E1D4DE-4958-4AB1-AD9D-C2B94EAC053C}"/>
              </a:ext>
            </a:extLst>
          </p:cNvPr>
          <p:cNvSpPr>
            <a:spLocks xmlns:a="http://schemas.openxmlformats.org/drawingml/2006/main" noGrp="1"/>
          </p:cNvSpPr>
          <p:nvPr/>
        </p:nvSpPr>
        <p:spPr>
          <a:xfrm xmlns:a="http://schemas.openxmlformats.org/drawingml/2006/main">
            <a:off x="723900" y="3724275"/>
            <a:ext cx="4191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0">
                <a:solidFill>
                  <a:srgbClr val="64766C"/>
                </a:solidFill>
                <a:latin typeface="Apple SD Gothic Neo"/>
                <a:ea typeface="Apple SD Gothic Neo"/>
                <a:cs typeface="Apple SD Gothic Neo"/>
              </a:defRPr>
            </a:pPr>
            <a:r>
              <a:rPr sz="2250" b="0">
                <a:solidFill>
                  <a:srgbClr val="64766C"/>
                </a:solidFill>
                <a:latin typeface="Apple SD Gothic Neo"/>
                <a:ea typeface="Apple SD Gothic Neo"/>
                <a:cs typeface="Apple SD Gothic Neo"/>
              </a:rPr>
              <a:t>10-minute request window</a:t>
            </a:r>
          </a:p>
        </p:txBody>
      </p:sp>
      <p:sp>
        <p:nvSpPr>
          <p:cNvPr id="5" name="">
            <a:extLst xmlns:a="http://schemas.openxmlformats.org/drawingml/2006/main">
              <a:ext uri="{FF2B5EF4-FFF2-40B4-BE49-F238E27FC236}">
                <a16:creationId xmlns:a16="http://schemas.microsoft.com/office/drawing/2014/main" id="{82491DBA-0AF8-4F6F-9BD6-5EA0A3B75398}"/>
              </a:ext>
            </a:extLst>
          </p:cNvPr>
          <p:cNvSpPr>
            <a:spLocks xmlns:a="http://schemas.openxmlformats.org/drawingml/2006/main" noGrp="1"/>
          </p:cNvSpPr>
          <p:nvPr/>
        </p:nvSpPr>
        <p:spPr>
          <a:xfrm xmlns:a="http://schemas.openxmlformats.org/drawingml/2006/main">
            <a:off x="5572125" y="2219325"/>
            <a:ext cx="5905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550" b="1">
                <a:solidFill>
                  <a:srgbClr val="213C33"/>
                </a:solidFill>
                <a:latin typeface="Apple SD Gothic Neo"/>
                <a:ea typeface="Apple SD Gothic Neo"/>
                <a:cs typeface="Apple SD Gothic Neo"/>
              </a:defRPr>
            </a:pPr>
            <a:r>
              <a:rPr sz="2550" b="1">
                <a:solidFill>
                  <a:srgbClr val="213C33"/>
                </a:solidFill>
                <a:latin typeface="Apple SD Gothic Neo"/>
                <a:ea typeface="Apple SD Gothic Neo"/>
                <a:cs typeface="Apple SD Gothic Neo"/>
              </a:rPr>
              <a:t>만료 후 신규 증명 제한</a:t>
            </a:r>
          </a:p>
        </p:txBody>
      </p:sp>
      <p:sp>
        <p:nvSpPr>
          <p:cNvPr id="6" name="">
            <a:extLst xmlns:a="http://schemas.openxmlformats.org/drawingml/2006/main">
              <a:ext uri="{FF2B5EF4-FFF2-40B4-BE49-F238E27FC236}">
                <a16:creationId xmlns:a16="http://schemas.microsoft.com/office/drawing/2014/main" id="{05F4CE5E-3F64-46D1-9E84-D4952764F592}"/>
              </a:ext>
            </a:extLst>
          </p:cNvPr>
          <p:cNvSpPr>
            <a:spLocks xmlns:a="http://schemas.openxmlformats.org/drawingml/2006/main" noGrp="1"/>
          </p:cNvSpPr>
          <p:nvPr/>
        </p:nvSpPr>
        <p:spPr>
          <a:xfrm xmlns:a="http://schemas.openxmlformats.org/drawingml/2006/main">
            <a:off x="5572125" y="2790825"/>
            <a:ext cx="5905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0">
                <a:solidFill>
                  <a:srgbClr val="64766C"/>
                </a:solidFill>
                <a:latin typeface="Apple SD Gothic Neo"/>
                <a:ea typeface="Apple SD Gothic Neo"/>
                <a:cs typeface="Apple SD Gothic Neo"/>
              </a:defRPr>
            </a:pPr>
            <a:r>
              <a:rPr sz="1950" b="0">
                <a:solidFill>
                  <a:srgbClr val="64766C"/>
                </a:solidFill>
                <a:latin typeface="Apple SD Gothic Neo"/>
                <a:ea typeface="Apple SD Gothic Neo"/>
                <a:cs typeface="Apple SD Gothic Neo"/>
              </a:rPr>
              <a:t>No new proof after the deadline</a:t>
            </a:r>
          </a:p>
        </p:txBody>
      </p:sp>
      <p:sp>
        <p:nvSpPr>
          <p:cNvPr id="7" name="">
            <a:extLst xmlns:a="http://schemas.openxmlformats.org/drawingml/2006/main">
              <a:ext uri="{FF2B5EF4-FFF2-40B4-BE49-F238E27FC236}">
                <a16:creationId xmlns:a16="http://schemas.microsoft.com/office/drawing/2014/main" id="{B6C6CDDA-EDF9-4493-9D0D-3895478B611F}"/>
              </a:ext>
            </a:extLst>
          </p:cNvPr>
          <p:cNvSpPr>
            <a:spLocks xmlns:a="http://schemas.openxmlformats.org/drawingml/2006/main" noGrp="1"/>
          </p:cNvSpPr>
          <p:nvPr/>
        </p:nvSpPr>
        <p:spPr>
          <a:xfrm xmlns:a="http://schemas.openxmlformats.org/drawingml/2006/main">
            <a:off x="5572125" y="3552825"/>
            <a:ext cx="5905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1">
                <a:solidFill>
                  <a:srgbClr val="213C33"/>
                </a:solidFill>
                <a:latin typeface="Apple SD Gothic Neo"/>
                <a:ea typeface="Apple SD Gothic Neo"/>
                <a:cs typeface="Apple SD Gothic Neo"/>
              </a:defRPr>
            </a:pPr>
            <a:r>
              <a:rPr sz="2400" b="1">
                <a:solidFill>
                  <a:srgbClr val="213C33"/>
                </a:solidFill>
                <a:latin typeface="Apple SD Gothic Neo"/>
                <a:ea typeface="Apple SD Gothic Neo"/>
                <a:cs typeface="Apple SD Gothic Neo"/>
              </a:rPr>
              <a:t>과거 승인도 현재 유효한 인증으로</a:t>
            </a:r>
          </a:p>
          <a:p xmlns:a="http://schemas.openxmlformats.org/drawingml/2006/main">
            <a:pPr algn="l">
              <a:defRPr sz="2400" b="1">
                <a:solidFill>
                  <a:srgbClr val="213C33"/>
                </a:solidFill>
                <a:latin typeface="Apple SD Gothic Neo"/>
                <a:ea typeface="Apple SD Gothic Neo"/>
                <a:cs typeface="Apple SD Gothic Neo"/>
              </a:defRPr>
            </a:pPr>
            <a:r>
              <a:rPr sz="2400" b="1">
                <a:solidFill>
                  <a:srgbClr val="213C33"/>
                </a:solidFill>
                <a:latin typeface="Apple SD Gothic Neo"/>
                <a:ea typeface="Apple SD Gothic Neo"/>
                <a:cs typeface="Apple SD Gothic Neo"/>
              </a:rPr>
              <a:t>표시하지 않음</a:t>
            </a:r>
          </a:p>
        </p:txBody>
      </p:sp>
      <p:sp>
        <p:nvSpPr>
          <p:cNvPr id="8" name="">
            <a:extLst xmlns:a="http://schemas.openxmlformats.org/drawingml/2006/main">
              <a:ext uri="{FF2B5EF4-FFF2-40B4-BE49-F238E27FC236}">
                <a16:creationId xmlns:a16="http://schemas.microsoft.com/office/drawing/2014/main" id="{5AF99123-D3A8-4B89-ACE7-8E2C073B2523}"/>
              </a:ext>
            </a:extLst>
          </p:cNvPr>
          <p:cNvSpPr>
            <a:spLocks xmlns:a="http://schemas.openxmlformats.org/drawingml/2006/main" noGrp="1"/>
          </p:cNvSpPr>
          <p:nvPr/>
        </p:nvSpPr>
        <p:spPr>
          <a:xfrm xmlns:a="http://schemas.openxmlformats.org/drawingml/2006/main">
            <a:off x="5572125" y="4533900"/>
            <a:ext cx="59055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0">
                <a:solidFill>
                  <a:srgbClr val="64766C"/>
                </a:solidFill>
                <a:latin typeface="Apple SD Gothic Neo"/>
                <a:ea typeface="Apple SD Gothic Neo"/>
                <a:cs typeface="Apple SD Gothic Neo"/>
              </a:defRPr>
            </a:pPr>
            <a:r>
              <a:rPr sz="1950" b="0">
                <a:solidFill>
                  <a:srgbClr val="64766C"/>
                </a:solidFill>
                <a:latin typeface="Apple SD Gothic Neo"/>
                <a:ea typeface="Apple SD Gothic Neo"/>
                <a:cs typeface="Apple SD Gothic Neo"/>
              </a:rPr>
              <a:t>Expired results no longer appear</a:t>
            </a:r>
          </a:p>
          <a:p xmlns:a="http://schemas.openxmlformats.org/drawingml/2006/main">
            <a:pPr algn="l">
              <a:defRPr sz="1950" b="0">
                <a:solidFill>
                  <a:srgbClr val="64766C"/>
                </a:solidFill>
                <a:latin typeface="Apple SD Gothic Neo"/>
                <a:ea typeface="Apple SD Gothic Neo"/>
                <a:cs typeface="Apple SD Gothic Neo"/>
              </a:defRPr>
            </a:pPr>
            <a:r>
              <a:rPr sz="1950" b="0">
                <a:solidFill>
                  <a:srgbClr val="64766C"/>
                </a:solidFill>
                <a:latin typeface="Apple SD Gothic Neo"/>
                <a:ea typeface="Apple SD Gothic Neo"/>
                <a:cs typeface="Apple SD Gothic Neo"/>
              </a:rPr>
              <a:t>as currently valid</a:t>
            </a:r>
          </a:p>
        </p:txBody>
      </p:sp>
      <p:sp>
        <p:nvSpPr>
          <p:cNvPr id="9" name="">
            <a:extLst xmlns:a="http://schemas.openxmlformats.org/drawingml/2006/main">
              <a:ext uri="{FF2B5EF4-FFF2-40B4-BE49-F238E27FC236}">
                <a16:creationId xmlns:a16="http://schemas.microsoft.com/office/drawing/2014/main" id="{7013DD6A-55F8-4564-9974-4424070C15D2}"/>
              </a:ext>
            </a:extLst>
          </p:cNvPr>
          <p:cNvSpPr>
            <a:spLocks xmlns:a="http://schemas.openxmlformats.org/drawingml/2006/main" noGrp="1"/>
          </p:cNvSpPr>
          <p:nvPr/>
        </p:nvSpPr>
        <p:spPr>
          <a:xfrm xmlns:a="http://schemas.openxmlformats.org/drawingml/2006/main">
            <a:off x="685800" y="5648325"/>
            <a:ext cx="108204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213C33"/>
                </a:solidFill>
                <a:latin typeface="Apple SD Gothic Neo"/>
                <a:ea typeface="Apple SD Gothic Neo"/>
                <a:cs typeface="Apple SD Gothic Neo"/>
              </a:defRPr>
            </a:pPr>
            <a:r>
              <a:rPr sz="2175" b="1">
                <a:solidFill>
                  <a:srgbClr val="213C33"/>
                </a:solidFill>
                <a:latin typeface="Apple SD Gothic Neo"/>
                <a:ea typeface="Apple SD Gothic Neo"/>
                <a:cs typeface="Apple SD Gothic Neo"/>
              </a:rPr>
              <a:t>공개 기록은 체인에 남습니다. 현재 계약에는 삭제 기능이 없습니다.</a:t>
            </a:r>
          </a:p>
        </p:txBody>
      </p:sp>
      <p:sp>
        <p:nvSpPr>
          <p:cNvPr id="10" name="">
            <a:extLst xmlns:a="http://schemas.openxmlformats.org/drawingml/2006/main">
              <a:ext uri="{FF2B5EF4-FFF2-40B4-BE49-F238E27FC236}">
                <a16:creationId xmlns:a16="http://schemas.microsoft.com/office/drawing/2014/main" id="{713A7F0A-9887-4278-9945-5019E15581E6}"/>
              </a:ext>
            </a:extLst>
          </p:cNvPr>
          <p:cNvSpPr>
            <a:spLocks xmlns:a="http://schemas.openxmlformats.org/drawingml/2006/main" noGrp="1"/>
          </p:cNvSpPr>
          <p:nvPr/>
        </p:nvSpPr>
        <p:spPr>
          <a:xfrm xmlns:a="http://schemas.openxmlformats.org/drawingml/2006/main">
            <a:off x="685800" y="6153150"/>
            <a:ext cx="108204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64766C"/>
                </a:solidFill>
                <a:latin typeface="Apple SD Gothic Neo"/>
                <a:ea typeface="Apple SD Gothic Neo"/>
                <a:cs typeface="Apple SD Gothic Neo"/>
              </a:defRPr>
            </a:pPr>
            <a:r>
              <a:rPr sz="1875" b="0">
                <a:solidFill>
                  <a:srgbClr val="64766C"/>
                </a:solidFill>
                <a:latin typeface="Apple SD Gothic Neo"/>
                <a:ea typeface="Apple SD Gothic Neo"/>
                <a:cs typeface="Apple SD Gothic Neo"/>
              </a:rPr>
              <a:t>Public history remains. The current contract has no deletion function.</a:t>
            </a:r>
          </a:p>
        </p:txBody>
      </p:sp>
    </p:spTree>
    <p:extLst>
      <p:ext uri="{BB962C8B-B14F-4D97-AF65-F5344CB8AC3E}">
        <p14:creationId xmlns:p14="http://schemas.microsoft.com/office/powerpoint/2010/main" val="922844807"/>
      </p:ext>
    </p:extLst>
  </p:cSld>
</p:sld>
</file>

<file path=ppt/slides/slide6.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9E37418F-D577-4674-A86F-F6023CC78326}"/>
              </a:ext>
            </a:extLst>
          </p:cNvPr>
          <p:cNvSpPr>
            <a:spLocks xmlns:a="http://schemas.openxmlformats.org/drawingml/2006/main" noGrp="1"/>
          </p:cNvSpPr>
          <p:nvPr/>
        </p:nvSpPr>
        <p:spPr>
          <a:xfrm xmlns:a="http://schemas.openxmlformats.org/drawingml/2006/main">
            <a:off x="685800" y="476250"/>
            <a:ext cx="10820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300" b="1">
                <a:solidFill>
                  <a:srgbClr val="213C33"/>
                </a:solidFill>
                <a:latin typeface="Apple SD Gothic Neo"/>
                <a:ea typeface="Apple SD Gothic Neo"/>
                <a:cs typeface="Apple SD Gothic Neo"/>
              </a:defRPr>
            </a:pPr>
            <a:r>
              <a:rPr sz="3300" b="1">
                <a:solidFill>
                  <a:srgbClr val="213C33"/>
                </a:solidFill>
                <a:latin typeface="Apple SD Gothic Neo"/>
                <a:ea typeface="Apple SD Gothic Neo"/>
                <a:cs typeface="Apple SD Gothic Neo"/>
              </a:rPr>
              <a:t>검증 결과와 현재 범위</a:t>
            </a:r>
          </a:p>
        </p:txBody>
      </p:sp>
      <p:sp>
        <p:nvSpPr>
          <p:cNvPr id="2" name="">
            <a:extLst xmlns:a="http://schemas.openxmlformats.org/drawingml/2006/main">
              <a:ext uri="{FF2B5EF4-FFF2-40B4-BE49-F238E27FC236}">
                <a16:creationId xmlns:a16="http://schemas.microsoft.com/office/drawing/2014/main" id="{352D326C-DD3F-4275-B0AE-D64E6D32087F}"/>
              </a:ext>
            </a:extLst>
          </p:cNvPr>
          <p:cNvSpPr>
            <a:spLocks xmlns:a="http://schemas.openxmlformats.org/drawingml/2006/main" noGrp="1"/>
          </p:cNvSpPr>
          <p:nvPr/>
        </p:nvSpPr>
        <p:spPr>
          <a:xfrm xmlns:a="http://schemas.openxmlformats.org/drawingml/2006/main">
            <a:off x="685800" y="1143000"/>
            <a:ext cx="108204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325" b="0">
                <a:solidFill>
                  <a:srgbClr val="64766C"/>
                </a:solidFill>
                <a:latin typeface="Apple SD Gothic Neo"/>
                <a:ea typeface="Apple SD Gothic Neo"/>
                <a:cs typeface="Apple SD Gothic Neo"/>
              </a:defRPr>
            </a:pPr>
            <a:r>
              <a:rPr sz="2325" b="0">
                <a:solidFill>
                  <a:srgbClr val="64766C"/>
                </a:solidFill>
                <a:latin typeface="Apple SD Gothic Neo"/>
                <a:ea typeface="Apple SD Gothic Neo"/>
                <a:cs typeface="Apple SD Gothic Neo"/>
              </a:rPr>
              <a:t>Verification and prototype scope</a:t>
            </a:r>
          </a:p>
        </p:txBody>
      </p:sp>
      <p:sp>
        <p:nvSpPr>
          <p:cNvPr id="3" name="">
            <a:extLst xmlns:a="http://schemas.openxmlformats.org/drawingml/2006/main">
              <a:ext uri="{FF2B5EF4-FFF2-40B4-BE49-F238E27FC236}">
                <a16:creationId xmlns:a16="http://schemas.microsoft.com/office/drawing/2014/main" id="{6CD909AD-0C54-42F7-A68D-2B2B89AB5108}"/>
              </a:ext>
            </a:extLst>
          </p:cNvPr>
          <p:cNvSpPr>
            <a:spLocks xmlns:a="http://schemas.openxmlformats.org/drawingml/2006/main" noGrp="1"/>
          </p:cNvSpPr>
          <p:nvPr/>
        </p:nvSpPr>
        <p:spPr>
          <a:xfrm xmlns:a="http://schemas.openxmlformats.org/drawingml/2006/main">
            <a:off x="685800" y="2076450"/>
            <a:ext cx="52387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850" b="1">
                <a:solidFill>
                  <a:srgbClr val="2D6350"/>
                </a:solidFill>
                <a:latin typeface="Apple SD Gothic Neo"/>
                <a:ea typeface="Apple SD Gothic Neo"/>
                <a:cs typeface="Apple SD Gothic Neo"/>
              </a:defRPr>
            </a:pPr>
            <a:r>
              <a:rPr sz="2850" b="1">
                <a:solidFill>
                  <a:srgbClr val="2D6350"/>
                </a:solidFill>
                <a:latin typeface="Apple SD Gothic Neo"/>
                <a:ea typeface="Apple SD Gothic Neo"/>
                <a:cs typeface="Apple SD Gothic Neo"/>
              </a:rPr>
              <a:t>38개 테스트 통과</a:t>
            </a:r>
          </a:p>
        </p:txBody>
      </p:sp>
      <p:sp>
        <p:nvSpPr>
          <p:cNvPr id="4" name="">
            <a:extLst xmlns:a="http://schemas.openxmlformats.org/drawingml/2006/main">
              <a:ext uri="{FF2B5EF4-FFF2-40B4-BE49-F238E27FC236}">
                <a16:creationId xmlns:a16="http://schemas.microsoft.com/office/drawing/2014/main" id="{0AFEBE72-5EB7-42A9-9F8A-82BE232B3979}"/>
              </a:ext>
            </a:extLst>
          </p:cNvPr>
          <p:cNvSpPr>
            <a:spLocks xmlns:a="http://schemas.openxmlformats.org/drawingml/2006/main" noGrp="1"/>
          </p:cNvSpPr>
          <p:nvPr/>
        </p:nvSpPr>
        <p:spPr>
          <a:xfrm xmlns:a="http://schemas.openxmlformats.org/drawingml/2006/main">
            <a:off x="685800" y="2667000"/>
            <a:ext cx="5238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0">
                <a:solidFill>
                  <a:srgbClr val="64766C"/>
                </a:solidFill>
                <a:latin typeface="Apple SD Gothic Neo"/>
                <a:ea typeface="Apple SD Gothic Neo"/>
                <a:cs typeface="Apple SD Gothic Neo"/>
              </a:defRPr>
            </a:pPr>
            <a:r>
              <a:rPr sz="1950" b="0">
                <a:solidFill>
                  <a:srgbClr val="64766C"/>
                </a:solidFill>
                <a:latin typeface="Apple SD Gothic Neo"/>
                <a:ea typeface="Apple SD Gothic Neo"/>
                <a:cs typeface="Apple SD Gothic Neo"/>
              </a:rPr>
              <a:t>Fresh public clone: 38 tests,</a:t>
            </a:r>
          </a:p>
          <a:p xmlns:a="http://schemas.openxmlformats.org/drawingml/2006/main">
            <a:pPr algn="l">
              <a:defRPr sz="1950" b="0">
                <a:solidFill>
                  <a:srgbClr val="64766C"/>
                </a:solidFill>
                <a:latin typeface="Apple SD Gothic Neo"/>
                <a:ea typeface="Apple SD Gothic Neo"/>
                <a:cs typeface="Apple SD Gothic Neo"/>
              </a:defRPr>
            </a:pPr>
            <a:r>
              <a:rPr sz="1950" b="0">
                <a:solidFill>
                  <a:srgbClr val="64766C"/>
                </a:solidFill>
                <a:latin typeface="Apple SD Gothic Neo"/>
                <a:ea typeface="Apple SD Gothic Neo"/>
                <a:cs typeface="Apple SD Gothic Neo"/>
              </a:rPr>
              <a:t>contract compilation and build passed</a:t>
            </a:r>
          </a:p>
        </p:txBody>
      </p:sp>
      <p:sp>
        <p:nvSpPr>
          <p:cNvPr id="5" name="">
            <a:extLst xmlns:a="http://schemas.openxmlformats.org/drawingml/2006/main">
              <a:ext uri="{FF2B5EF4-FFF2-40B4-BE49-F238E27FC236}">
                <a16:creationId xmlns:a16="http://schemas.microsoft.com/office/drawing/2014/main" id="{193F6047-2E65-4F12-AFE3-FFE099F70B5B}"/>
              </a:ext>
            </a:extLst>
          </p:cNvPr>
          <p:cNvSpPr>
            <a:spLocks xmlns:a="http://schemas.openxmlformats.org/drawingml/2006/main" noGrp="1"/>
          </p:cNvSpPr>
          <p:nvPr/>
        </p:nvSpPr>
        <p:spPr>
          <a:xfrm xmlns:a="http://schemas.openxmlformats.org/drawingml/2006/main">
            <a:off x="685800" y="3829050"/>
            <a:ext cx="5334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1">
                <a:solidFill>
                  <a:srgbClr val="213C33"/>
                </a:solidFill>
                <a:latin typeface="Apple SD Gothic Neo"/>
                <a:ea typeface="Apple SD Gothic Neo"/>
                <a:cs typeface="Apple SD Gothic Neo"/>
              </a:defRPr>
            </a:pPr>
            <a:r>
              <a:rPr sz="2400" b="1">
                <a:solidFill>
                  <a:srgbClr val="213C33"/>
                </a:solidFill>
                <a:latin typeface="Apple SD Gothic Neo"/>
                <a:ea typeface="Apple SD Gothic Neo"/>
                <a:cs typeface="Apple SD Gothic Neo"/>
              </a:rPr>
              <a:t>개발 체인 확정과 별도 조회</a:t>
            </a:r>
          </a:p>
        </p:txBody>
      </p:sp>
      <p:sp>
        <p:nvSpPr>
          <p:cNvPr id="6" name="">
            <a:extLst xmlns:a="http://schemas.openxmlformats.org/drawingml/2006/main">
              <a:ext uri="{FF2B5EF4-FFF2-40B4-BE49-F238E27FC236}">
                <a16:creationId xmlns:a16="http://schemas.microsoft.com/office/drawing/2014/main" id="{7F4B1AB6-A06B-4A1D-BE7E-87F3888B6238}"/>
              </a:ext>
            </a:extLst>
          </p:cNvPr>
          <p:cNvSpPr>
            <a:spLocks xmlns:a="http://schemas.openxmlformats.org/drawingml/2006/main" noGrp="1"/>
          </p:cNvSpPr>
          <p:nvPr/>
        </p:nvSpPr>
        <p:spPr>
          <a:xfrm xmlns:a="http://schemas.openxmlformats.org/drawingml/2006/main">
            <a:off x="685800" y="4391025"/>
            <a:ext cx="5334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0">
                <a:solidFill>
                  <a:srgbClr val="64766C"/>
                </a:solidFill>
                <a:latin typeface="Apple SD Gothic Neo"/>
                <a:ea typeface="Apple SD Gothic Neo"/>
                <a:cs typeface="Apple SD Gothic Neo"/>
              </a:defRPr>
            </a:pPr>
            <a:r>
              <a:rPr sz="1950" b="0">
                <a:solidFill>
                  <a:srgbClr val="64766C"/>
                </a:solidFill>
                <a:latin typeface="Apple SD Gothic Neo"/>
                <a:ea typeface="Apple SD Gothic Neo"/>
                <a:cs typeface="Apple SD Gothic Neo"/>
              </a:rPr>
              <a:t>Confirmed development-chain proof</a:t>
            </a:r>
          </a:p>
          <a:p xmlns:a="http://schemas.openxmlformats.org/drawingml/2006/main">
            <a:pPr algn="l">
              <a:defRPr sz="1950" b="0">
                <a:solidFill>
                  <a:srgbClr val="64766C"/>
                </a:solidFill>
                <a:latin typeface="Apple SD Gothic Neo"/>
                <a:ea typeface="Apple SD Gothic Neo"/>
                <a:cs typeface="Apple SD Gothic Neo"/>
              </a:defRPr>
            </a:pPr>
            <a:r>
              <a:rPr sz="1950" b="0">
                <a:solidFill>
                  <a:srgbClr val="64766C"/>
                </a:solidFill>
                <a:latin typeface="Apple SD Gothic Neo"/>
                <a:ea typeface="Apple SD Gothic Neo"/>
                <a:cs typeface="Apple SD Gothic Neo"/>
              </a:rPr>
              <a:t>and independent public read</a:t>
            </a:r>
          </a:p>
        </p:txBody>
      </p:sp>
      <p:sp>
        <p:nvSpPr>
          <p:cNvPr id="7" name="">
            <a:extLst xmlns:a="http://schemas.openxmlformats.org/drawingml/2006/main">
              <a:ext uri="{FF2B5EF4-FFF2-40B4-BE49-F238E27FC236}">
                <a16:creationId xmlns:a16="http://schemas.microsoft.com/office/drawing/2014/main" id="{C5E71B33-6366-4540-B625-DE9F419F5AC0}"/>
              </a:ext>
            </a:extLst>
          </p:cNvPr>
          <p:cNvSpPr>
            <a:spLocks xmlns:a="http://schemas.openxmlformats.org/drawingml/2006/main" noGrp="1"/>
          </p:cNvSpPr>
          <p:nvPr/>
        </p:nvSpPr>
        <p:spPr>
          <a:xfrm xmlns:a="http://schemas.openxmlformats.org/drawingml/2006/main">
            <a:off x="6810375" y="2076450"/>
            <a:ext cx="46958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1">
                <a:solidFill>
                  <a:srgbClr val="213C33"/>
                </a:solidFill>
                <a:latin typeface="Apple SD Gothic Neo"/>
                <a:ea typeface="Apple SD Gothic Neo"/>
                <a:cs typeface="Apple SD Gothic Neo"/>
              </a:defRPr>
            </a:pPr>
            <a:r>
              <a:rPr sz="2400" b="1">
                <a:solidFill>
                  <a:srgbClr val="213C33"/>
                </a:solidFill>
                <a:latin typeface="Apple SD Gothic Neo"/>
                <a:ea typeface="Apple SD Gothic Neo"/>
                <a:cs typeface="Apple SD Gothic Neo"/>
              </a:rPr>
              <a:t>가상 자료와 모의 기관</a:t>
            </a:r>
          </a:p>
        </p:txBody>
      </p:sp>
      <p:sp>
        <p:nvSpPr>
          <p:cNvPr id="8" name="">
            <a:extLst xmlns:a="http://schemas.openxmlformats.org/drawingml/2006/main">
              <a:ext uri="{FF2B5EF4-FFF2-40B4-BE49-F238E27FC236}">
                <a16:creationId xmlns:a16="http://schemas.microsoft.com/office/drawing/2014/main" id="{D6A3CCCB-AE09-40A6-A9CF-86EA8AF340ED}"/>
              </a:ext>
            </a:extLst>
          </p:cNvPr>
          <p:cNvSpPr>
            <a:spLocks xmlns:a="http://schemas.openxmlformats.org/drawingml/2006/main" noGrp="1"/>
          </p:cNvSpPr>
          <p:nvPr/>
        </p:nvSpPr>
        <p:spPr>
          <a:xfrm xmlns:a="http://schemas.openxmlformats.org/drawingml/2006/main">
            <a:off x="6810375" y="2638425"/>
            <a:ext cx="46958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64766C"/>
                </a:solidFill>
                <a:latin typeface="Apple SD Gothic Neo"/>
                <a:ea typeface="Apple SD Gothic Neo"/>
                <a:cs typeface="Apple SD Gothic Neo"/>
              </a:defRPr>
            </a:pPr>
            <a:r>
              <a:rPr sz="1875" b="0">
                <a:solidFill>
                  <a:srgbClr val="64766C"/>
                </a:solidFill>
                <a:latin typeface="Apple SD Gothic Neo"/>
                <a:ea typeface="Apple SD Gothic Neo"/>
                <a:cs typeface="Apple SD Gothic Neo"/>
              </a:rPr>
              <a:t>Synthetic data and a mock issuer</a:t>
            </a:r>
          </a:p>
        </p:txBody>
      </p:sp>
      <p:sp>
        <p:nvSpPr>
          <p:cNvPr id="9" name="">
            <a:extLst xmlns:a="http://schemas.openxmlformats.org/drawingml/2006/main">
              <a:ext uri="{FF2B5EF4-FFF2-40B4-BE49-F238E27FC236}">
                <a16:creationId xmlns:a16="http://schemas.microsoft.com/office/drawing/2014/main" id="{F39ED686-4C74-4C5C-AAF8-06E599542FD2}"/>
              </a:ext>
            </a:extLst>
          </p:cNvPr>
          <p:cNvSpPr>
            <a:spLocks xmlns:a="http://schemas.openxmlformats.org/drawingml/2006/main" noGrp="1"/>
          </p:cNvSpPr>
          <p:nvPr/>
        </p:nvSpPr>
        <p:spPr>
          <a:xfrm xmlns:a="http://schemas.openxmlformats.org/drawingml/2006/main">
            <a:off x="6810375" y="3781425"/>
            <a:ext cx="46958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213C33"/>
                </a:solidFill>
                <a:latin typeface="Apple SD Gothic Neo"/>
                <a:ea typeface="Apple SD Gothic Neo"/>
                <a:cs typeface="Apple SD Gothic Neo"/>
              </a:defRPr>
            </a:pPr>
            <a:r>
              <a:rPr sz="2250" b="1">
                <a:solidFill>
                  <a:srgbClr val="213C33"/>
                </a:solidFill>
                <a:latin typeface="Apple SD Gothic Neo"/>
                <a:ea typeface="Apple SD Gothic Neo"/>
                <a:cs typeface="Apple SD Gothic Neo"/>
              </a:rPr>
              <a:t>실서류 연동·실회원 로그인은</a:t>
            </a:r>
          </a:p>
          <a:p xmlns:a="http://schemas.openxmlformats.org/drawingml/2006/main">
            <a:pPr algn="l">
              <a:defRPr sz="2250" b="1">
                <a:solidFill>
                  <a:srgbClr val="213C33"/>
                </a:solidFill>
                <a:latin typeface="Apple SD Gothic Neo"/>
                <a:ea typeface="Apple SD Gothic Neo"/>
                <a:cs typeface="Apple SD Gothic Neo"/>
              </a:defRPr>
            </a:pPr>
            <a:r>
              <a:rPr sz="2250" b="1">
                <a:solidFill>
                  <a:srgbClr val="213C33"/>
                </a:solidFill>
                <a:latin typeface="Apple SD Gothic Neo"/>
                <a:ea typeface="Apple SD Gothic Neo"/>
                <a:cs typeface="Apple SD Gothic Neo"/>
              </a:rPr>
              <a:t>후속 과제</a:t>
            </a:r>
          </a:p>
        </p:txBody>
      </p:sp>
      <p:sp>
        <p:nvSpPr>
          <p:cNvPr id="10" name="">
            <a:extLst xmlns:a="http://schemas.openxmlformats.org/drawingml/2006/main">
              <a:ext uri="{FF2B5EF4-FFF2-40B4-BE49-F238E27FC236}">
                <a16:creationId xmlns:a16="http://schemas.microsoft.com/office/drawing/2014/main" id="{15251069-B073-47E4-869B-87322E029318}"/>
              </a:ext>
            </a:extLst>
          </p:cNvPr>
          <p:cNvSpPr>
            <a:spLocks xmlns:a="http://schemas.openxmlformats.org/drawingml/2006/main" noGrp="1"/>
          </p:cNvSpPr>
          <p:nvPr/>
        </p:nvSpPr>
        <p:spPr>
          <a:xfrm xmlns:a="http://schemas.openxmlformats.org/drawingml/2006/main">
            <a:off x="6810375" y="4791075"/>
            <a:ext cx="46958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64766C"/>
                </a:solidFill>
                <a:latin typeface="Apple SD Gothic Neo"/>
                <a:ea typeface="Apple SD Gothic Neo"/>
                <a:cs typeface="Apple SD Gothic Neo"/>
              </a:defRPr>
            </a:pPr>
            <a:r>
              <a:rPr sz="1875" b="0">
                <a:solidFill>
                  <a:srgbClr val="64766C"/>
                </a:solidFill>
                <a:latin typeface="Apple SD Gothic Neo"/>
                <a:ea typeface="Apple SD Gothic Neo"/>
                <a:cs typeface="Apple SD Gothic Neo"/>
              </a:rPr>
              <a:t>Government integration and</a:t>
            </a:r>
          </a:p>
          <a:p xmlns:a="http://schemas.openxmlformats.org/drawingml/2006/main">
            <a:pPr algn="l">
              <a:defRPr sz="1875" b="0">
                <a:solidFill>
                  <a:srgbClr val="64766C"/>
                </a:solidFill>
                <a:latin typeface="Apple SD Gothic Neo"/>
                <a:ea typeface="Apple SD Gothic Neo"/>
                <a:cs typeface="Apple SD Gothic Neo"/>
              </a:defRPr>
            </a:pPr>
            <a:r>
              <a:rPr sz="1875" b="0">
                <a:solidFill>
                  <a:srgbClr val="64766C"/>
                </a:solidFill>
                <a:latin typeface="Apple SD Gothic Neo"/>
                <a:ea typeface="Apple SD Gothic Neo"/>
                <a:cs typeface="Apple SD Gothic Neo"/>
              </a:rPr>
              <a:t>real authentication are future work</a:t>
            </a:r>
          </a:p>
        </p:txBody>
      </p:sp>
      <p:sp>
        <p:nvSpPr>
          <p:cNvPr id="11" name="">
            <a:extLst xmlns:a="http://schemas.openxmlformats.org/drawingml/2006/main">
              <a:ext uri="{FF2B5EF4-FFF2-40B4-BE49-F238E27FC236}">
                <a16:creationId xmlns:a16="http://schemas.microsoft.com/office/drawing/2014/main" id="{E9C65F62-37FE-4C41-A4A2-240A7E8389BA}"/>
              </a:ext>
            </a:extLst>
          </p:cNvPr>
          <p:cNvSpPr>
            <a:spLocks xmlns:a="http://schemas.openxmlformats.org/drawingml/2006/main" noGrp="1"/>
          </p:cNvSpPr>
          <p:nvPr/>
        </p:nvSpPr>
        <p:spPr>
          <a:xfrm xmlns:a="http://schemas.openxmlformats.org/drawingml/2006/main">
            <a:off x="685800" y="5981700"/>
            <a:ext cx="10820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2D6350"/>
                </a:solidFill>
                <a:latin typeface="Apple SD Gothic Neo"/>
                <a:ea typeface="Apple SD Gothic Neo"/>
                <a:cs typeface="Apple SD Gothic Neo"/>
              </a:defRPr>
            </a:pPr>
            <a:r>
              <a:rPr sz="2175" b="1">
                <a:solidFill>
                  <a:srgbClr val="2D6350"/>
                </a:solidFill>
                <a:latin typeface="Apple SD Gothic Neo"/>
                <a:ea typeface="Apple SD Gothic Neo"/>
                <a:cs typeface="Apple SD Gothic Neo"/>
              </a:rPr>
              <a:t>github.com/team-hyunjae/MatchProof</a:t>
            </a:r>
          </a:p>
        </p:txBody>
      </p:sp>
    </p:spTree>
    <p:extLst>
      <p:ext uri="{BB962C8B-B14F-4D97-AF65-F5344CB8AC3E}">
        <p14:creationId xmlns:p14="http://schemas.microsoft.com/office/powerpoint/2010/main" val="44597816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2026-09-26T07:05:06.9220000Z</dcterms:created>
  <dcterms:modified xsi:type="dcterms:W3CDTF">2026-09-26T07:05:06.9220000Z</dcterms:modified>
</coreProperties>
</file>